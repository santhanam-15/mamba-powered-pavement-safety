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60" r:id="rId3"/>
    <p:sldId id="257" r:id="rId4"/>
    <p:sldId id="258" r:id="rId5"/>
    <p:sldId id="259" r:id="rId6"/>
    <p:sldId id="261" r:id="rId7"/>
    <p:sldId id="285" r:id="rId8"/>
    <p:sldId id="273" r:id="rId9"/>
    <p:sldId id="272" r:id="rId10"/>
    <p:sldId id="286" r:id="rId11"/>
    <p:sldId id="275" r:id="rId12"/>
    <p:sldId id="274" r:id="rId13"/>
    <p:sldId id="287" r:id="rId14"/>
    <p:sldId id="276" r:id="rId15"/>
    <p:sldId id="277" r:id="rId16"/>
    <p:sldId id="263" r:id="rId17"/>
    <p:sldId id="279" r:id="rId18"/>
    <p:sldId id="281" r:id="rId19"/>
    <p:sldId id="289" r:id="rId20"/>
    <p:sldId id="284" r:id="rId21"/>
    <p:sldId id="308" r:id="rId22"/>
    <p:sldId id="309" r:id="rId23"/>
    <p:sldId id="310" r:id="rId24"/>
    <p:sldId id="294" r:id="rId25"/>
    <p:sldId id="299" r:id="rId26"/>
    <p:sldId id="290" r:id="rId27"/>
    <p:sldId id="300" r:id="rId28"/>
    <p:sldId id="271" r:id="rId29"/>
    <p:sldId id="301" r:id="rId30"/>
    <p:sldId id="296" r:id="rId31"/>
    <p:sldId id="297" r:id="rId32"/>
    <p:sldId id="298" r:id="rId33"/>
    <p:sldId id="269" r:id="rId34"/>
    <p:sldId id="282" r:id="rId35"/>
    <p:sldId id="303" r:id="rId36"/>
    <p:sldId id="306" r:id="rId37"/>
    <p:sldId id="270" r:id="rId3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2" roundtripDataSignature="AMtx7mhhhuhGjdxSZihv3VWfUV2Jn9QC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37" autoAdjust="0"/>
    <p:restoredTop sz="95388" autoAdjust="0"/>
  </p:normalViewPr>
  <p:slideViewPr>
    <p:cSldViewPr snapToGrid="0">
      <p:cViewPr>
        <p:scale>
          <a:sx n="100" d="100"/>
          <a:sy n="100" d="100"/>
        </p:scale>
        <p:origin x="1046"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11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11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14"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11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1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8647520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317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6" name="Google Shape;14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09720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e7f44d30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1" name="Google Shape;101;g13e7f44d30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13e7f44d30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62929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6" name="Google Shape;11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04672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0073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50746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03332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D88CAA7-2DD3-AB70-2636-3192D55524A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4F361E7-4568-60B6-85BE-D5C5A0FEBEE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7A9E63D5-3D94-2053-7EA0-63544128862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CACC8EB-9B8B-1695-1B8C-2D436B7B6D2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66502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3B0F0F0-3D1E-EA1D-4FB8-EBD01CB72CE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8142DF07-A2C4-23C3-3878-0E0CE58FEA2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2BD6D660-82DB-54D9-58A6-A871D8616E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3872134-AD4F-F38D-3225-981D5B84677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300881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3B0F0F0-3D1E-EA1D-4FB8-EBD01CB72CE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8142DF07-A2C4-23C3-3878-0E0CE58FEA2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2BD6D660-82DB-54D9-58A6-A871D8616E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3872134-AD4F-F38D-3225-981D5B84677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743370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C046347-FA24-8573-CA2A-E3A14C0B97B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981FFE12-BEA8-C711-9BB9-4FC8556F475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A550719B-6E11-A6BE-6EF0-99DF98F2B7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E393079-C824-F73B-F1B9-D6131D7F7C6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45158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BEABC9A-F52F-47CE-CF4F-1775ED74FD2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2317B9A-88BA-74D8-6D80-DA098E358FC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0DE3F0B2-F19F-8265-AA16-2098A11C84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9CB9B26C-D074-37A1-C3B8-0DDD17D5A1E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46503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BEABC9A-F52F-47CE-CF4F-1775ED74FD2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2317B9A-88BA-74D8-6D80-DA098E358FC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0DE3F0B2-F19F-8265-AA16-2098A11C84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9CB9B26C-D074-37A1-C3B8-0DDD17D5A1E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06843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B43E0E6-8BAB-5E2B-6490-DCD6A80C2F7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323A676-1CFB-2F44-A083-7B59E8ABDDD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8EF45F3E-3937-D154-1E79-C5A0CE4B7C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DA04ED2-CD58-24E2-BE80-F9E99A4725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76698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B339BFA-71FD-6D75-490E-B73C32BD506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7083DC11-5D76-1255-2282-0ED7C9F560B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0463954C-3945-3BCD-0D50-BF8F411C4FF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0FE494C2-DF27-491D-038E-CD9165BF6AC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54588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560619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1C5F258-6354-A3B1-5159-EAD9AA0166D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C1125EEE-8E25-7082-BA96-5DFC3E61BB7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00117AC5-162E-1122-CC7C-38E6C0F565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03EC7B61-886F-9F9B-FB4F-41B729D484F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13886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5E1C68-98C5-3E69-665A-B75250D51F7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33188DF3-5B0A-E93D-45EE-F66B6E2213F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71FBB14D-E045-A139-31C7-C230B32CA4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8FF3DE79-02B9-DD6B-FB92-F775D4FE914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39319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53645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1065525-D7E5-0C73-F01B-750BB6E0BDD8}"/>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CBEB9C20-6F4D-42E2-381C-3371EE87FEA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23314C4B-6480-31EA-4230-935966C29DD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8D0954DA-48F7-E6D5-9DA8-39751E570AA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960740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D0DBFE1-0CA6-DD68-4C43-A1346E5E9BD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340A16C7-6B46-4493-11CF-FCAC47810D5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2A46B5B0-C9BA-9077-A790-0A570E8E2C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2301779-62CF-AD66-F921-19EE42997AE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224386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40302AC-38E1-4AE1-D8E4-C0B65B8550D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30C5C751-9838-A645-127B-0DBAA76D6B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BF4C99CB-34D4-6A40-706E-3DFE58EDD19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0B6A93B-84BB-4F87-3709-B90163CC0B3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59598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53272ED-0DA9-C95C-226A-F979646EBFA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B7070AF-806E-F921-06C0-70C7FB7AE28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ABD0E6B8-91F2-04C3-C069-09BFFA3877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39A5507-218C-840F-19CF-A4447CFC26D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4890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C9B83EF-B6FA-2C75-B16D-576C37B8FA2B}"/>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D0125746-DA95-5157-4013-E2BDBA90749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C0521543-3C87-6DF5-CBDF-E623834076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F5308B6-4A72-7BD8-6069-83568657AA6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84498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F5DAB8D-5E78-8EEE-743E-C5C43D308A58}"/>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31CF81AE-D83B-D0BE-26F1-E70CA03E762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6EB570A6-04FC-C7B7-4352-A3BA238088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830A05B-458D-6DB6-49DF-BA979D15822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4279643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40C4CD3-D952-E74E-2C92-1490893B2EC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90460F4D-A8D7-F62F-2F8E-D65F144BA24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FDE6A6F1-947E-89FD-913F-BB748605AE2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D9BD195-3021-97C6-116B-38FA77A1948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620535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9C72AD8-2533-7941-EBA6-50E8C3FE10F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52DCCE3D-7650-4467-C0D2-9C9844BADEB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6631365A-436B-29B0-B030-15258BDC3A9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0B107414-CFE4-BD3D-8677-11AAC46285D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47589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13147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A679698-69FC-80B1-1733-CA1D3C41585B}"/>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B2EE7590-A78C-C316-2F71-BCFDA761283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4105744F-2237-5987-7A2A-8B6ACA8DEC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993E958-682D-3CCC-BE0E-6C8AEBD08E2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129566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19BD136-E7F2-FD13-27B9-563654EF29D0}"/>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DDEF81D-5709-D378-7F22-18A35D8957C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009DF5A3-C30D-9855-11CD-05C13CF7DB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7513768-C927-B962-C07C-CBCD39F4090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5262699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DD4D38B-DAC7-06B1-E2FC-CC4220E2926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8FC60C87-38DA-5BAE-2309-5D72E69C893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2AC45F0E-8693-D975-0AF8-DE1579C2416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646E5EA-3873-43CF-AA66-2471696DC99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22731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AE32387-7D64-5419-7BF7-E3AF3D8E86F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D7D3BD7F-206A-1EB6-42B3-8210E0F4B25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B0EEA0CE-3C46-1A6B-4649-7301F8CD96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F60D9245-164C-7D46-E33F-724BA624C37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265554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444186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1BCC85F-5864-C207-7672-167A7CB53E1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CB6D2B67-2AB4-86C6-923E-4D90D83A63E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B6FFD8ED-8E70-FC3F-E514-E6AA73542B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B18CCDF-EF70-25C3-086C-E0645CE3003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039540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77C2526-F319-9DA0-E595-859A70308221}"/>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340AE30D-158E-6E0C-2A01-8C7ED84E3FB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7178850A-1730-D5BA-E0C6-4C94A0747A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971FA03B-3511-8BB4-1F34-C55A7C80A51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596650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3FAA1D1-99EE-4F05-D437-1B57BCBDF424}"/>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3F6B4154-E0DF-2307-8DAB-965B5A188BB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a:extLst>
              <a:ext uri="{FF2B5EF4-FFF2-40B4-BE49-F238E27FC236}">
                <a16:creationId xmlns:a16="http://schemas.microsoft.com/office/drawing/2014/main" id="{947CDE6B-CB11-3E8F-8A66-50DE1419865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BED3775-E456-954A-88E0-0FE67995302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308076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99497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7F70A785-156C-425F-A2D8-966122E547E5}" type="datetime3">
              <a:rPr lang="en-US" smtClean="0"/>
              <a:pPr/>
              <a:t>7 May 2026</a:t>
            </a:fld>
            <a:endParaRPr/>
          </a:p>
        </p:txBody>
      </p:sp>
      <p:sp>
        <p:nvSpPr>
          <p:cNvPr id="17" name="Google Shape;17;p2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0" name="Google Shape;20;p3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97742EA7-CD33-43EC-8EA7-47D30631274E}" type="datetime3">
              <a:rPr lang="en-US" smtClean="0"/>
              <a:pPr/>
              <a:t>7 May 2026</a:t>
            </a:fld>
            <a:endParaRPr/>
          </a:p>
        </p:txBody>
      </p:sp>
      <p:sp>
        <p:nvSpPr>
          <p:cNvPr id="22" name="Google Shape;22;p3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3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3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chemeClr val="dk1"/>
              </a:buClr>
              <a:buSzPts val="2400"/>
              <a:buFont typeface="Times New Roman"/>
              <a:buNone/>
              <a:defRPr sz="2400"/>
            </a:lvl1pPr>
            <a:lvl2pPr lvl="1" algn="ctr">
              <a:lnSpc>
                <a:spcPct val="100000"/>
              </a:lnSpc>
              <a:spcBef>
                <a:spcPts val="400"/>
              </a:spcBef>
              <a:spcAft>
                <a:spcPts val="0"/>
              </a:spcAft>
              <a:buClr>
                <a:schemeClr val="dk1"/>
              </a:buClr>
              <a:buSzPts val="2000"/>
              <a:buFont typeface="Times New Roman"/>
              <a:buNone/>
              <a:defRPr sz="2000"/>
            </a:lvl2pPr>
            <a:lvl3pPr lvl="2" algn="ctr">
              <a:lnSpc>
                <a:spcPct val="100000"/>
              </a:lnSpc>
              <a:spcBef>
                <a:spcPts val="360"/>
              </a:spcBef>
              <a:spcAft>
                <a:spcPts val="0"/>
              </a:spcAft>
              <a:buClr>
                <a:schemeClr val="dk1"/>
              </a:buClr>
              <a:buSzPts val="1800"/>
              <a:buFont typeface="Times New Roman"/>
              <a:buNone/>
              <a:defRPr sz="1800"/>
            </a:lvl3pPr>
            <a:lvl4pPr lvl="3" algn="ctr">
              <a:lnSpc>
                <a:spcPct val="100000"/>
              </a:lnSpc>
              <a:spcBef>
                <a:spcPts val="320"/>
              </a:spcBef>
              <a:spcAft>
                <a:spcPts val="0"/>
              </a:spcAft>
              <a:buClr>
                <a:schemeClr val="dk1"/>
              </a:buClr>
              <a:buSzPts val="1600"/>
              <a:buFont typeface="Times New Roman"/>
              <a:buNone/>
              <a:defRPr sz="1600"/>
            </a:lvl4pPr>
            <a:lvl5pPr lvl="4" algn="ctr">
              <a:lnSpc>
                <a:spcPct val="100000"/>
              </a:lnSpc>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3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484804C-E2C2-44BE-BCFD-8053EB60501D}" type="datetime3">
              <a:rPr lang="en-US" smtClean="0"/>
              <a:pPr/>
              <a:t>7 May 2026</a:t>
            </a:fld>
            <a:endParaRPr/>
          </a:p>
        </p:txBody>
      </p:sp>
      <p:sp>
        <p:nvSpPr>
          <p:cNvPr id="33" name="Google Shape;33;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33"/>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 name="Google Shape;37;p33"/>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a:lvl1pPr>
            <a:lvl2pPr marL="914400" lvl="1" indent="-228600" algn="l">
              <a:lnSpc>
                <a:spcPct val="100000"/>
              </a:lnSpc>
              <a:spcBef>
                <a:spcPts val="400"/>
              </a:spcBef>
              <a:spcAft>
                <a:spcPts val="0"/>
              </a:spcAft>
              <a:buClr>
                <a:schemeClr val="dk1"/>
              </a:buClr>
              <a:buSzPts val="2000"/>
              <a:buFont typeface="Times New Roman"/>
              <a:buNone/>
              <a:defRPr sz="2000"/>
            </a:lvl2pPr>
            <a:lvl3pPr marL="1371600" lvl="2" indent="-228600" algn="l">
              <a:lnSpc>
                <a:spcPct val="100000"/>
              </a:lnSpc>
              <a:spcBef>
                <a:spcPts val="360"/>
              </a:spcBef>
              <a:spcAft>
                <a:spcPts val="0"/>
              </a:spcAft>
              <a:buClr>
                <a:schemeClr val="dk1"/>
              </a:buClr>
              <a:buSzPts val="1800"/>
              <a:buFont typeface="Times New Roman"/>
              <a:buNone/>
              <a:defRPr sz="1800"/>
            </a:lvl3pPr>
            <a:lvl4pPr marL="1828800" lvl="3" indent="-228600" algn="l">
              <a:lnSpc>
                <a:spcPct val="100000"/>
              </a:lnSpc>
              <a:spcBef>
                <a:spcPts val="320"/>
              </a:spcBef>
              <a:spcAft>
                <a:spcPts val="0"/>
              </a:spcAft>
              <a:buClr>
                <a:schemeClr val="dk1"/>
              </a:buClr>
              <a:buSzPts val="1600"/>
              <a:buFont typeface="Times New Roman"/>
              <a:buNone/>
              <a:defRPr sz="1600"/>
            </a:lvl4pPr>
            <a:lvl5pPr marL="2286000" lvl="4" indent="-228600" algn="l">
              <a:lnSpc>
                <a:spcPct val="100000"/>
              </a:lnSpc>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38" name="Google Shape;38;p3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693C889-72BB-4A3F-88FF-DB5D79B46C9F}" type="datetime3">
              <a:rPr lang="en-US" smtClean="0"/>
              <a:pPr/>
              <a:t>7 May 2026</a:t>
            </a:fld>
            <a:endParaRPr/>
          </a:p>
        </p:txBody>
      </p:sp>
      <p:sp>
        <p:nvSpPr>
          <p:cNvPr id="39" name="Google Shape;39;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34"/>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4"/>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8438443-5994-46C8-AEEF-2D59BC6E7C9E}" type="datetime3">
              <a:rPr lang="en-US" smtClean="0"/>
              <a:pPr/>
              <a:t>7 May 2026</a:t>
            </a:fld>
            <a:endParaRPr/>
          </a:p>
        </p:txBody>
      </p:sp>
      <p:sp>
        <p:nvSpPr>
          <p:cNvPr id="46" name="Google Shape;46;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35"/>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35"/>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5"/>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35"/>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28E5C271-FA14-4B19-BFBF-3563F3BF711E}" type="datetime3">
              <a:rPr lang="en-US" smtClean="0"/>
              <a:pPr/>
              <a:t>7 May 2026</a:t>
            </a:fld>
            <a:endParaRPr/>
          </a:p>
        </p:txBody>
      </p:sp>
      <p:sp>
        <p:nvSpPr>
          <p:cNvPr id="55" name="Google Shape;55;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3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36"/>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36"/>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3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A449154-40C0-463B-9870-DE851E5650F2}" type="datetime3">
              <a:rPr lang="en-US" smtClean="0"/>
              <a:pPr/>
              <a:t>7 May 2026</a:t>
            </a:fld>
            <a:endParaRPr/>
          </a:p>
        </p:txBody>
      </p:sp>
      <p:sp>
        <p:nvSpPr>
          <p:cNvPr id="62" name="Google Shape;62;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3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6" name="Google Shape;66;p37"/>
          <p:cNvSpPr>
            <a:spLocks noGrp="1"/>
          </p:cNvSpPr>
          <p:nvPr>
            <p:ph type="pic" idx="2"/>
          </p:nvPr>
        </p:nvSpPr>
        <p:spPr>
          <a:xfrm>
            <a:off x="3887788" y="987425"/>
            <a:ext cx="4629150" cy="4873625"/>
          </a:xfrm>
          <a:prstGeom prst="rect">
            <a:avLst/>
          </a:prstGeom>
          <a:noFill/>
          <a:ln>
            <a:noFill/>
          </a:ln>
        </p:spPr>
      </p:sp>
      <p:sp>
        <p:nvSpPr>
          <p:cNvPr id="67" name="Google Shape;67;p37"/>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3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E899386-CBAA-4D39-AF2D-8EC1DE21406A}" type="datetime3">
              <a:rPr lang="en-US" smtClean="0"/>
              <a:pPr/>
              <a:t>7 May 2026</a:t>
            </a:fld>
            <a:endParaRPr/>
          </a:p>
        </p:txBody>
      </p:sp>
      <p:sp>
        <p:nvSpPr>
          <p:cNvPr id="69" name="Google Shape;69;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3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38"/>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8094A4C-1916-4AF1-A1C2-EDC0C0EC293E}" type="datetime3">
              <a:rPr lang="en-US" smtClean="0"/>
              <a:pPr/>
              <a:t>7 May 2026</a:t>
            </a:fld>
            <a:endParaRPr/>
          </a:p>
        </p:txBody>
      </p:sp>
      <p:sp>
        <p:nvSpPr>
          <p:cNvPr id="75" name="Google Shape;75;p3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39"/>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 name="Google Shape;79;p39"/>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3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386948D6-0002-44A7-B245-A5E38AE83685}" type="datetime3">
              <a:rPr lang="en-US" smtClean="0"/>
              <a:pPr/>
              <a:t>7 May 2026</a:t>
            </a:fld>
            <a:endParaRPr/>
          </a:p>
        </p:txBody>
      </p:sp>
      <p:sp>
        <p:nvSpPr>
          <p:cNvPr id="81" name="Google Shape;81;p3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4117"/>
          </a:srgbClr>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fld id="{B8A5363C-25EE-49EE-8F58-FC70F37812F9}" type="datetime3">
              <a:rPr lang="en-US" smtClean="0"/>
              <a:pPr/>
              <a:t>7 May 2026</a:t>
            </a:fld>
            <a:endParaRPr/>
          </a:p>
        </p:txBody>
      </p:sp>
      <p:sp>
        <p:nvSpPr>
          <p:cNvPr id="13" name="Google Shape;13;p2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89" name="Google Shape;89;p1"/>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90" name="Google Shape;90;p1"/>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91" name="Google Shape;91;p1"/>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a:t>
            </a:fld>
            <a:endParaRPr sz="1600" b="1" i="0" u="none" strike="noStrike" cap="none">
              <a:solidFill>
                <a:srgbClr val="FFFFFF"/>
              </a:solidFill>
              <a:latin typeface="Comic Sans MS"/>
              <a:ea typeface="Comic Sans MS"/>
              <a:cs typeface="Comic Sans MS"/>
              <a:sym typeface="Comic Sans MS"/>
            </a:endParaRPr>
          </a:p>
        </p:txBody>
      </p:sp>
      <p:sp>
        <p:nvSpPr>
          <p:cNvPr id="92" name="Google Shape;92;p1"/>
          <p:cNvSpPr txBox="1">
            <a:spLocks noGrp="1"/>
          </p:cNvSpPr>
          <p:nvPr>
            <p:ph type="dt" idx="10"/>
          </p:nvPr>
        </p:nvSpPr>
        <p:spPr>
          <a:xfrm>
            <a:off x="0" y="6564325"/>
            <a:ext cx="1948800" cy="412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1438992-91CF-42A5-9A63-D24A032BB5F6}"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a:solidFill>
                <a:srgbClr val="FF0066"/>
              </a:solidFill>
              <a:latin typeface="Arial Rounded"/>
              <a:ea typeface="Arial Rounded"/>
              <a:cs typeface="Arial Rounded"/>
              <a:sym typeface="Arial Rounded"/>
            </a:endParaRPr>
          </a:p>
        </p:txBody>
      </p:sp>
      <p:sp>
        <p:nvSpPr>
          <p:cNvPr id="93" name="Google Shape;93;p1"/>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94" name="Google Shape;94;p1"/>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95" name="Google Shape;95;p1"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96" name="Google Shape;96;p1"/>
          <p:cNvSpPr txBox="1"/>
          <p:nvPr/>
        </p:nvSpPr>
        <p:spPr>
          <a:xfrm>
            <a:off x="630936" y="2503488"/>
            <a:ext cx="7469456" cy="523180"/>
          </a:xfrm>
          <a:prstGeom prst="rect">
            <a:avLst/>
          </a:prstGeom>
          <a:noFill/>
          <a:ln>
            <a:noFill/>
          </a:ln>
        </p:spPr>
        <p:txBody>
          <a:bodyPr spcFirstLastPara="1" wrap="square" lIns="91425" tIns="45700" rIns="91425" bIns="45700" anchor="t" anchorCtr="0">
            <a:spAutoFit/>
          </a:bodyPr>
          <a:lstStyle/>
          <a:p>
            <a:pPr algn="ctr"/>
            <a:r>
              <a:rPr lang="en-IN" sz="2800" b="1" dirty="0"/>
              <a:t>Mamba-Powered Pavement Safety</a:t>
            </a:r>
          </a:p>
        </p:txBody>
      </p:sp>
      <p:sp>
        <p:nvSpPr>
          <p:cNvPr id="97" name="Google Shape;97;p1"/>
          <p:cNvSpPr txBox="1"/>
          <p:nvPr/>
        </p:nvSpPr>
        <p:spPr>
          <a:xfrm>
            <a:off x="4463988" y="5043666"/>
            <a:ext cx="490629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1" dirty="0" err="1">
                <a:solidFill>
                  <a:schemeClr val="dk1"/>
                </a:solidFill>
                <a:latin typeface="Times New Roman"/>
                <a:ea typeface="Times New Roman"/>
                <a:cs typeface="Times New Roman"/>
                <a:sym typeface="Times New Roman"/>
              </a:rPr>
              <a:t>B.Ajeez</a:t>
            </a:r>
            <a:r>
              <a:rPr lang="en-US" sz="1800" b="1" dirty="0">
                <a:solidFill>
                  <a:schemeClr val="dk1"/>
                </a:solidFill>
                <a:latin typeface="Times New Roman"/>
                <a:ea typeface="Times New Roman"/>
                <a:cs typeface="Times New Roman"/>
                <a:sym typeface="Times New Roman"/>
              </a:rPr>
              <a:t> Prabu</a:t>
            </a:r>
            <a:r>
              <a:rPr lang="en-US" sz="1800" b="1" i="0" u="none" strike="noStrike" cap="none" dirty="0">
                <a:solidFill>
                  <a:schemeClr val="dk1"/>
                </a:solidFill>
                <a:latin typeface="Times New Roman"/>
                <a:ea typeface="Times New Roman"/>
                <a:cs typeface="Times New Roman"/>
                <a:sym typeface="Times New Roman"/>
              </a:rPr>
              <a:t> </a:t>
            </a:r>
            <a:r>
              <a:rPr lang="en-US" sz="1800" b="1" dirty="0">
                <a:solidFill>
                  <a:schemeClr val="dk1"/>
                </a:solidFill>
                <a:latin typeface="Times New Roman"/>
                <a:ea typeface="Times New Roman"/>
                <a:cs typeface="Times New Roman"/>
                <a:sym typeface="Times New Roman"/>
              </a:rPr>
              <a:t>23BCS161</a:t>
            </a:r>
            <a:endParaRPr lang="en-US"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800"/>
              <a:buFont typeface="Times New Roman"/>
              <a:buNone/>
            </a:pPr>
            <a:r>
              <a:rPr lang="en-US" sz="1800" b="1" dirty="0">
                <a:solidFill>
                  <a:schemeClr val="dk1"/>
                </a:solidFill>
                <a:latin typeface="Times New Roman"/>
                <a:ea typeface="Times New Roman"/>
                <a:cs typeface="Times New Roman"/>
                <a:sym typeface="Times New Roman"/>
              </a:rPr>
              <a:t>      </a:t>
            </a:r>
            <a:r>
              <a:rPr lang="en-US" sz="1800" b="1" dirty="0" err="1">
                <a:solidFill>
                  <a:schemeClr val="dk1"/>
                </a:solidFill>
                <a:latin typeface="Times New Roman"/>
                <a:ea typeface="Times New Roman"/>
                <a:cs typeface="Times New Roman"/>
                <a:sym typeface="Times New Roman"/>
              </a:rPr>
              <a:t>S.Santhana</a:t>
            </a:r>
            <a:r>
              <a:rPr lang="en-US" sz="1800" b="1" dirty="0">
                <a:solidFill>
                  <a:schemeClr val="dk1"/>
                </a:solidFill>
                <a:latin typeface="Times New Roman"/>
                <a:ea typeface="Times New Roman"/>
                <a:cs typeface="Times New Roman"/>
                <a:sym typeface="Times New Roman"/>
              </a:rPr>
              <a:t> Pandi</a:t>
            </a:r>
            <a:r>
              <a:rPr lang="en-US" sz="1800" b="1" i="0" u="none" strike="noStrike" cap="none" dirty="0">
                <a:solidFill>
                  <a:schemeClr val="dk1"/>
                </a:solidFill>
                <a:latin typeface="Times New Roman"/>
                <a:ea typeface="Times New Roman"/>
                <a:cs typeface="Times New Roman"/>
                <a:sym typeface="Times New Roman"/>
              </a:rPr>
              <a:t> 23BCS182</a:t>
            </a:r>
            <a:endParaRPr lang="en-US" sz="1800" b="1" dirty="0">
              <a:solidFill>
                <a:schemeClr val="dk1"/>
              </a:solidFill>
              <a:latin typeface="Times New Roman"/>
              <a:ea typeface="Times New Roman"/>
              <a:cs typeface="Times New Roman"/>
              <a:sym typeface="Times New Roman"/>
            </a:endParaRPr>
          </a:p>
          <a:p>
            <a:pPr marL="0" marR="0" lvl="0" indent="0" rtl="0">
              <a:lnSpc>
                <a:spcPct val="100000"/>
              </a:lnSpc>
              <a:spcBef>
                <a:spcPts val="0"/>
              </a:spcBef>
              <a:spcAft>
                <a:spcPts val="0"/>
              </a:spcAft>
              <a:buClr>
                <a:schemeClr val="dk1"/>
              </a:buClr>
              <a:buSzPts val="1800"/>
              <a:buFont typeface="Times New Roman"/>
              <a:buNone/>
            </a:pPr>
            <a:r>
              <a:rPr lang="en-US" sz="1800" b="1" i="0" u="none" strike="noStrike" cap="none" dirty="0">
                <a:solidFill>
                  <a:schemeClr val="dk1"/>
                </a:solidFill>
                <a:latin typeface="Times New Roman"/>
                <a:ea typeface="Times New Roman"/>
                <a:cs typeface="Times New Roman"/>
                <a:sym typeface="Times New Roman"/>
              </a:rPr>
              <a:t>                    </a:t>
            </a:r>
            <a:r>
              <a:rPr lang="en-US" sz="1800" b="1" i="0" u="none" strike="noStrike" cap="none" dirty="0" err="1">
                <a:solidFill>
                  <a:schemeClr val="dk1"/>
                </a:solidFill>
                <a:latin typeface="Times New Roman"/>
                <a:ea typeface="Times New Roman"/>
                <a:cs typeface="Times New Roman"/>
                <a:sym typeface="Times New Roman"/>
              </a:rPr>
              <a:t>R.Mohan</a:t>
            </a:r>
            <a:r>
              <a:rPr lang="en-US" sz="1800" b="1" i="0" u="none" strike="noStrike" cap="none" dirty="0">
                <a:solidFill>
                  <a:schemeClr val="dk1"/>
                </a:solidFill>
                <a:latin typeface="Times New Roman"/>
                <a:ea typeface="Times New Roman"/>
                <a:cs typeface="Times New Roman"/>
                <a:sym typeface="Times New Roman"/>
              </a:rPr>
              <a:t> 23BCSL08</a:t>
            </a:r>
          </a:p>
        </p:txBody>
      </p:sp>
      <p:sp>
        <p:nvSpPr>
          <p:cNvPr id="2" name="Google Shape;97;p1">
            <a:extLst>
              <a:ext uri="{FF2B5EF4-FFF2-40B4-BE49-F238E27FC236}">
                <a16:creationId xmlns:a16="http://schemas.microsoft.com/office/drawing/2014/main" id="{CF46A962-0F70-96C9-324D-9F297AC3737A}"/>
              </a:ext>
            </a:extLst>
          </p:cNvPr>
          <p:cNvSpPr txBox="1"/>
          <p:nvPr/>
        </p:nvSpPr>
        <p:spPr>
          <a:xfrm>
            <a:off x="0" y="5043666"/>
            <a:ext cx="4321834" cy="1477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1" i="0" u="none" strike="noStrike" cap="none" dirty="0">
                <a:solidFill>
                  <a:schemeClr val="dk1"/>
                </a:solidFill>
                <a:latin typeface="+mj-lt"/>
                <a:ea typeface="Times New Roman"/>
                <a:cs typeface="Times New Roman"/>
                <a:sym typeface="Times New Roman"/>
              </a:rPr>
              <a:t>GUIDED BY,</a:t>
            </a:r>
          </a:p>
          <a:p>
            <a:pPr lvl="0" algn="ctr">
              <a:buClr>
                <a:schemeClr val="dk1"/>
              </a:buClr>
              <a:buSzPts val="1800"/>
            </a:pPr>
            <a:r>
              <a:rPr lang="en-IN" sz="1800" b="1" dirty="0" err="1"/>
              <a:t>Mrs.M.Stella</a:t>
            </a:r>
            <a:r>
              <a:rPr lang="en-IN" sz="1800" b="1" dirty="0"/>
              <a:t> </a:t>
            </a:r>
            <a:r>
              <a:rPr lang="en-IN" sz="1800" b="1" dirty="0" err="1"/>
              <a:t>Inba</a:t>
            </a:r>
            <a:r>
              <a:rPr lang="en-IN" sz="1800" b="1" dirty="0"/>
              <a:t> </a:t>
            </a:r>
            <a:r>
              <a:rPr lang="en-IN" sz="1800" b="1" dirty="0" err="1"/>
              <a:t>Mary,M.E</a:t>
            </a:r>
            <a:r>
              <a:rPr lang="en-IN" sz="1800" b="1" dirty="0"/>
              <a:t>.,(</a:t>
            </a:r>
            <a:r>
              <a:rPr lang="en-IN" sz="1800" b="1" dirty="0" err="1"/>
              <a:t>Ph.D</a:t>
            </a:r>
            <a:r>
              <a:rPr lang="en-IN" sz="1800" b="1" dirty="0"/>
              <a:t>).</a:t>
            </a:r>
          </a:p>
          <a:p>
            <a:pPr lvl="0" algn="ctr">
              <a:buClr>
                <a:schemeClr val="dk1"/>
              </a:buClr>
              <a:buSzPts val="1800"/>
            </a:pPr>
            <a:r>
              <a:rPr lang="en-IN" sz="1800" b="1" dirty="0"/>
              <a:t>Assistant Professor (</a:t>
            </a:r>
            <a:r>
              <a:rPr lang="en-IN" sz="1800" b="1" dirty="0" err="1"/>
              <a:t>Sr.G</a:t>
            </a:r>
            <a:r>
              <a:rPr lang="en-IN" sz="1800" b="1" dirty="0"/>
              <a:t>.)</a:t>
            </a:r>
            <a:endParaRPr lang="en-US"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50" name="Google Shape;150;p1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51" name="Google Shape;151;p1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52" name="Google Shape;152;p1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a:t>
            </a:fld>
            <a:endParaRPr sz="1600" b="1" i="0" u="none" strike="noStrike" cap="none">
              <a:solidFill>
                <a:srgbClr val="FFFFFF"/>
              </a:solidFill>
              <a:latin typeface="Comic Sans MS"/>
              <a:ea typeface="Comic Sans MS"/>
              <a:cs typeface="Comic Sans MS"/>
              <a:sym typeface="Comic Sans MS"/>
            </a:endParaRPr>
          </a:p>
        </p:txBody>
      </p:sp>
      <p:sp>
        <p:nvSpPr>
          <p:cNvPr id="153" name="Google Shape;153;p12"/>
          <p:cNvSpPr txBox="1">
            <a:spLocks noGrp="1"/>
          </p:cNvSpPr>
          <p:nvPr>
            <p:ph type="body" idx="1"/>
          </p:nvPr>
        </p:nvSpPr>
        <p:spPr>
          <a:xfrm>
            <a:off x="386857" y="1129060"/>
            <a:ext cx="8370286" cy="6661628"/>
          </a:xfrm>
          <a:prstGeom prst="rect">
            <a:avLst/>
          </a:prstGeom>
          <a:noFill/>
          <a:ln>
            <a:noFill/>
          </a:ln>
        </p:spPr>
        <p:txBody>
          <a:bodyPr spcFirstLastPara="1" wrap="square" lIns="91425" tIns="45700" rIns="91425" bIns="45700" anchor="t" anchorCtr="0">
            <a:noAutofit/>
          </a:bodyPr>
          <a:lstStyle/>
          <a:p>
            <a:pPr marL="114300" indent="0" algn="just">
              <a:lnSpc>
                <a:spcPct val="150000"/>
              </a:lnSpc>
              <a:buNone/>
            </a:pPr>
            <a:r>
              <a:rPr lang="en-US" sz="1800" dirty="0"/>
              <a:t>Highways play a vital role in transportation, economic development, and public safety. However, over time, asphalt pavements are prone to developing potholes due to continuous traffic load, weathering effects, and material deterioration. These potholes not only reduce road quality and driving comfort, but also increase the risk of accidents and can cause vehicle damage such as tire punctures, dents, and leaks. Therefore, regular and accurate detection of potholes is essential for effective highway maintenance and for ensuring safe road operation.</a:t>
            </a:r>
          </a:p>
          <a:p>
            <a:pPr marL="114300" indent="0" algn="just">
              <a:lnSpc>
                <a:spcPct val="150000"/>
              </a:lnSpc>
              <a:buNone/>
            </a:pPr>
            <a:br>
              <a:rPr lang="en-US" sz="1800" dirty="0"/>
            </a:br>
            <a:endParaRPr lang="en-US" sz="1800" dirty="0">
              <a:latin typeface="Times New Roman" pitchFamily="18" charset="0"/>
              <a:cs typeface="Times New Roman" pitchFamily="18" charset="0"/>
            </a:endParaRPr>
          </a:p>
        </p:txBody>
      </p:sp>
      <p:sp>
        <p:nvSpPr>
          <p:cNvPr id="154" name="Google Shape;154;p12"/>
          <p:cNvSpPr txBox="1">
            <a:spLocks noGrp="1"/>
          </p:cNvSpPr>
          <p:nvPr>
            <p:ph type="dt" idx="10"/>
          </p:nvPr>
        </p:nvSpPr>
        <p:spPr>
          <a:xfrm>
            <a:off x="0" y="6550025"/>
            <a:ext cx="1905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6DFCBC0-FF8D-4DBE-9B7B-D46C9E3C5A7A}"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a:solidFill>
                <a:srgbClr val="FF0066"/>
              </a:solidFill>
              <a:latin typeface="Arial Rounded"/>
              <a:ea typeface="Arial Rounded"/>
              <a:cs typeface="Arial Rounded"/>
              <a:sym typeface="Arial Rounded"/>
            </a:endParaRPr>
          </a:p>
        </p:txBody>
      </p:sp>
      <p:sp>
        <p:nvSpPr>
          <p:cNvPr id="155" name="Google Shape;155;p1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56" name="Google Shape;156;p1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57" name="Google Shape;157;p1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58" name="Google Shape;158;p12"/>
          <p:cNvSpPr txBox="1"/>
          <p:nvPr/>
        </p:nvSpPr>
        <p:spPr>
          <a:xfrm>
            <a:off x="3472764" y="609600"/>
            <a:ext cx="2198473"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Introduction</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g13e7f44d304_0_0"/>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05" name="Google Shape;105;g13e7f44d304_0_0"/>
          <p:cNvSpPr txBox="1"/>
          <p:nvPr/>
        </p:nvSpPr>
        <p:spPr>
          <a:xfrm>
            <a:off x="2273300" y="6550025"/>
            <a:ext cx="4597500" cy="307800"/>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06" name="Google Shape;106;g13e7f44d304_0_0"/>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07" name="Google Shape;107;g13e7f44d304_0_0"/>
          <p:cNvSpPr/>
          <p:nvPr/>
        </p:nvSpPr>
        <p:spPr>
          <a:xfrm>
            <a:off x="8550275" y="6553200"/>
            <a:ext cx="593700" cy="306300"/>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a:t>
            </a:fld>
            <a:endParaRPr sz="1600" b="1" i="0" u="none" strike="noStrike" cap="none">
              <a:solidFill>
                <a:srgbClr val="FFFFFF"/>
              </a:solidFill>
              <a:latin typeface="Comic Sans MS"/>
              <a:ea typeface="Comic Sans MS"/>
              <a:cs typeface="Comic Sans MS"/>
              <a:sym typeface="Comic Sans MS"/>
            </a:endParaRPr>
          </a:p>
        </p:txBody>
      </p:sp>
      <p:sp>
        <p:nvSpPr>
          <p:cNvPr id="108" name="Google Shape;108;g13e7f44d304_0_0"/>
          <p:cNvSpPr txBox="1">
            <a:spLocks noGrp="1"/>
          </p:cNvSpPr>
          <p:nvPr>
            <p:ph type="dt" idx="10"/>
          </p:nvPr>
        </p:nvSpPr>
        <p:spPr>
          <a:xfrm>
            <a:off x="-1" y="6564313"/>
            <a:ext cx="1981201"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D4679909-0E7E-462F-91D5-8FC128A19CEB}"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09" name="Google Shape;109;g13e7f44d304_0_0"/>
          <p:cNvSpPr txBox="1"/>
          <p:nvPr/>
        </p:nvSpPr>
        <p:spPr>
          <a:xfrm>
            <a:off x="919163" y="0"/>
            <a:ext cx="73056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10" name="Google Shape;110;g13e7f44d304_0_0"/>
          <p:cNvSpPr/>
          <p:nvPr/>
        </p:nvSpPr>
        <p:spPr>
          <a:xfrm>
            <a:off x="8355013" y="20638"/>
            <a:ext cx="777900" cy="777900"/>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11" name="Google Shape;111;g13e7f44d304_0_0"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12" name="Google Shape;112;g13e7f44d304_0_0"/>
          <p:cNvSpPr txBox="1"/>
          <p:nvPr/>
        </p:nvSpPr>
        <p:spPr>
          <a:xfrm>
            <a:off x="2949906" y="578461"/>
            <a:ext cx="3244189"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Problem Statement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2F0A8B2C-9988-3B6D-61B3-A32EB0DF2BEE}"/>
              </a:ext>
            </a:extLst>
          </p:cNvPr>
          <p:cNvSpPr txBox="1">
            <a:spLocks noChangeArrowheads="1"/>
          </p:cNvSpPr>
          <p:nvPr/>
        </p:nvSpPr>
        <p:spPr>
          <a:xfrm>
            <a:off x="178186" y="1203102"/>
            <a:ext cx="8787628" cy="41148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14300" indent="0">
              <a:lnSpc>
                <a:spcPct val="150000"/>
              </a:lnSpc>
              <a:spcBef>
                <a:spcPts val="360"/>
              </a:spcBef>
              <a:buClr>
                <a:schemeClr val="dk1"/>
              </a:buClr>
              <a:buSzPts val="1800"/>
              <a:buFont typeface="Times New Roman"/>
              <a:buNone/>
              <a:defRPr sz="3200">
                <a:solidFill>
                  <a:schemeClr val="dk1"/>
                </a:solidFill>
                <a:latin typeface="Times New Roman"/>
                <a:ea typeface="Times New Roman"/>
                <a:cs typeface="Times New Roman"/>
                <a:sym typeface="Times New Roman"/>
              </a:defRPr>
            </a:lvl1pPr>
            <a:lvl2pPr marL="914400" indent="-342900">
              <a:spcBef>
                <a:spcPts val="360"/>
              </a:spcBef>
              <a:buClr>
                <a:schemeClr val="dk1"/>
              </a:buClr>
              <a:buSzPts val="1800"/>
              <a:buFont typeface="Times New Roman"/>
              <a:buChar char="–"/>
              <a:defRPr sz="2800">
                <a:solidFill>
                  <a:schemeClr val="dk1"/>
                </a:solidFill>
                <a:latin typeface="Times New Roman"/>
                <a:ea typeface="Times New Roman"/>
                <a:cs typeface="Times New Roman"/>
                <a:sym typeface="Times New Roman"/>
              </a:defRPr>
            </a:lvl2pPr>
            <a:lvl3pPr marL="1371600" indent="-342900">
              <a:spcBef>
                <a:spcPts val="360"/>
              </a:spcBef>
              <a:buClr>
                <a:schemeClr val="dk1"/>
              </a:buClr>
              <a:buSzPts val="1800"/>
              <a:buFont typeface="Times New Roman"/>
              <a:buChar char="•"/>
              <a:defRPr sz="2400">
                <a:solidFill>
                  <a:schemeClr val="dk1"/>
                </a:solidFill>
                <a:latin typeface="Times New Roman"/>
                <a:ea typeface="Times New Roman"/>
                <a:cs typeface="Times New Roman"/>
                <a:sym typeface="Times New Roman"/>
              </a:defRPr>
            </a:lvl3pPr>
            <a:lvl4pPr marL="18288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4pPr>
            <a:lvl5pPr marL="22860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5pPr>
            <a:lvl6pPr marL="27432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6pPr>
            <a:lvl7pPr marL="32004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7pPr>
            <a:lvl8pPr marL="36576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8pPr>
            <a:lvl9pPr marL="41148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9pPr>
          </a:lstStyle>
          <a:p>
            <a:pPr algn="just"/>
            <a:r>
              <a:rPr lang="en-US" sz="1800" dirty="0"/>
              <a:t>Current road inspection methods largely depend on manual surveys, which are time-consuming, labor-intensive, and prone to human error, making it difficult to ensure consistent and timely detection of pavement damages such as potholes. Although machine learning and deep learning techniques have improved automated detection, challenges such as image distortion from oblique camera angles, limited feature extraction, and reduced detection efficiency still affect the accuracy and reliability of these systems. This project addresses the need for an efficient and accurate automated pothole detection framework that utilizes advanced image correction and deep learning–based segmentation techniques to improve detection performance and support safer and more effective road maintenance. </a:t>
            </a:r>
            <a:endParaRPr lang="en-US"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3"/>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20" name="Google Shape;120;p3"/>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22" name="Google Shape;122;p3"/>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4</a:t>
            </a:fld>
            <a:endParaRPr sz="1600" b="1" i="0" u="none" strike="noStrike" cap="none">
              <a:solidFill>
                <a:srgbClr val="FFFFFF"/>
              </a:solidFill>
              <a:latin typeface="Comic Sans MS"/>
              <a:ea typeface="Comic Sans MS"/>
              <a:cs typeface="Comic Sans MS"/>
              <a:sym typeface="Comic Sans MS"/>
            </a:endParaRPr>
          </a:p>
        </p:txBody>
      </p:sp>
      <p:sp>
        <p:nvSpPr>
          <p:cNvPr id="123" name="Google Shape;123;p3"/>
          <p:cNvSpPr txBox="1">
            <a:spLocks noGrp="1"/>
          </p:cNvSpPr>
          <p:nvPr>
            <p:ph type="dt" idx="10"/>
          </p:nvPr>
        </p:nvSpPr>
        <p:spPr>
          <a:xfrm>
            <a:off x="-1" y="6564313"/>
            <a:ext cx="1927124" cy="4127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25260AD9-E776-4CA9-ACBE-E4F114151A87}"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a:solidFill>
                <a:srgbClr val="FF0066"/>
              </a:solidFill>
              <a:latin typeface="Arial Rounded"/>
              <a:ea typeface="Arial Rounded"/>
              <a:cs typeface="Arial Rounded"/>
              <a:sym typeface="Arial Rounded"/>
            </a:endParaRPr>
          </a:p>
        </p:txBody>
      </p:sp>
      <p:sp>
        <p:nvSpPr>
          <p:cNvPr id="124" name="Google Shape;124;p3"/>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25" name="Google Shape;125;p3"/>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26" name="Google Shape;126;p3"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27" name="Google Shape;127;p3"/>
          <p:cNvSpPr txBox="1"/>
          <p:nvPr/>
        </p:nvSpPr>
        <p:spPr>
          <a:xfrm>
            <a:off x="3663911" y="608356"/>
            <a:ext cx="1816178"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Objectives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DC529FB4-35F9-975C-2A8F-ECCA8C176B69}"/>
              </a:ext>
            </a:extLst>
          </p:cNvPr>
          <p:cNvSpPr txBox="1">
            <a:spLocks noChangeArrowheads="1"/>
          </p:cNvSpPr>
          <p:nvPr/>
        </p:nvSpPr>
        <p:spPr>
          <a:xfrm>
            <a:off x="406400" y="1207206"/>
            <a:ext cx="8268043"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develop a robust deep learning pipeline for accurately segmenting road damage from input road images.</a:t>
            </a:r>
          </a:p>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integrate perspective correction to handle image distortion and improve geometric consistency of detections.</a:t>
            </a:r>
          </a:p>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introduce a novel </a:t>
            </a:r>
            <a:r>
              <a:rPr lang="en-IN" sz="1600" dirty="0" err="1">
                <a:latin typeface="Times New Roman" panose="02020603050405020304" pitchFamily="18" charset="0"/>
                <a:cs typeface="Times New Roman" panose="02020603050405020304" pitchFamily="18" charset="0"/>
              </a:rPr>
              <a:t>ShadowNet</a:t>
            </a:r>
            <a:r>
              <a:rPr lang="en-IN" sz="1600" dirty="0">
                <a:latin typeface="Times New Roman" panose="02020603050405020304" pitchFamily="18" charset="0"/>
                <a:cs typeface="Times New Roman" panose="02020603050405020304" pitchFamily="18" charset="0"/>
              </a:rPr>
              <a:t> module for suppressing shadow effects, improving performance under varying lighting conditions.</a:t>
            </a:r>
          </a:p>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To build a modular system supporting training, inference, and comparative evaluation of model variants.</a:t>
            </a:r>
          </a:p>
          <a:p>
            <a:pPr marL="342900" indent="-342900" algn="just">
              <a:lnSpc>
                <a:spcPct val="20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913489" y="589326"/>
            <a:ext cx="3317022" cy="523180"/>
          </a:xfrm>
          <a:prstGeom prst="rect">
            <a:avLst/>
          </a:prstGeom>
          <a:noFill/>
          <a:ln>
            <a:noFill/>
          </a:ln>
        </p:spPr>
        <p:txBody>
          <a:bodyPr spcFirstLastPara="1" wrap="non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Expected Outcomes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500063" y="1200934"/>
            <a:ext cx="7985570"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Accurate segmentation results with improved </a:t>
            </a:r>
            <a:r>
              <a:rPr lang="en-IN" sz="1600" dirty="0" err="1">
                <a:latin typeface="Times New Roman" panose="02020603050405020304" pitchFamily="18" charset="0"/>
                <a:cs typeface="Times New Roman" panose="02020603050405020304" pitchFamily="18" charset="0"/>
              </a:rPr>
              <a:t>IoU</a:t>
            </a:r>
            <a:r>
              <a:rPr lang="en-IN" sz="1600" dirty="0">
                <a:latin typeface="Times New Roman" panose="02020603050405020304" pitchFamily="18" charset="0"/>
                <a:cs typeface="Times New Roman" panose="02020603050405020304" pitchFamily="18" charset="0"/>
              </a:rPr>
              <a:t> and Dice scores, producing precise damage masks.</a:t>
            </a:r>
          </a:p>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Reduced geometric distortion errors, resulting in more reliable area estimation and spatial localization.</a:t>
            </a:r>
            <a:endParaRPr lang="en-IN" sz="1600" i="1" dirty="0">
              <a:latin typeface="Times New Roman" panose="02020603050405020304" pitchFamily="18" charset="0"/>
              <a:cs typeface="Times New Roman" panose="02020603050405020304" pitchFamily="18" charset="0"/>
            </a:endParaRPr>
          </a:p>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Improved robustness to shadows and lighting variations through the integration of </a:t>
            </a:r>
            <a:r>
              <a:rPr lang="en-IN" sz="1600" dirty="0" err="1">
                <a:latin typeface="Times New Roman" panose="02020603050405020304" pitchFamily="18" charset="0"/>
                <a:cs typeface="Times New Roman" panose="02020603050405020304" pitchFamily="18" charset="0"/>
              </a:rPr>
              <a:t>ShadowNet</a:t>
            </a:r>
            <a:r>
              <a:rPr lang="en-IN" sz="1600" dirty="0">
                <a:latin typeface="Times New Roman" panose="02020603050405020304" pitchFamily="18" charset="0"/>
                <a:cs typeface="Times New Roman" panose="02020603050405020304" pitchFamily="18" charset="0"/>
              </a:rPr>
              <a:t>, reducing false detections.</a:t>
            </a:r>
          </a:p>
          <a:p>
            <a:pPr marL="285750" lvl="0" indent="-285750">
              <a:lnSpc>
                <a:spcPct val="20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 complete and reproducible workflow with efficient inference, model evaluation, and multi-variant comparison capabilities.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91281" y="609600"/>
            <a:ext cx="8961438" cy="59372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buFontTx/>
              <a:buNone/>
              <a:tabLst>
                <a:tab pos="520700" algn="l"/>
              </a:tabLst>
              <a:defRPr/>
            </a:pPr>
            <a:endParaRPr lang="en-US" altLang="en-US" sz="1800" b="1" dirty="0">
              <a:latin typeface="+mj-lt"/>
              <a:cs typeface="Times New Roman" panose="02020603050405020304" pitchFamily="18" charset="0"/>
            </a:endParaRPr>
          </a:p>
          <a:p>
            <a:pPr marL="284163" indent="-284163" algn="ctr">
              <a:spcBef>
                <a:spcPct val="0"/>
              </a:spcBef>
              <a:buFontTx/>
              <a:buNone/>
              <a:tabLst>
                <a:tab pos="520700" algn="l"/>
              </a:tabLst>
              <a:defRPr/>
            </a:pPr>
            <a:r>
              <a:rPr lang="en-US" altLang="en-US" sz="1800" b="1" dirty="0">
                <a:latin typeface="+mj-lt"/>
                <a:cs typeface="Times New Roman" panose="02020603050405020304" pitchFamily="18" charset="0"/>
              </a:rPr>
              <a:t>Literature Survey Number -1</a:t>
            </a:r>
          </a:p>
          <a:p>
            <a:pPr marL="284163" indent="-284163">
              <a:spcBef>
                <a:spcPct val="0"/>
              </a:spcBef>
              <a:buFontTx/>
              <a:buNone/>
              <a:tabLst>
                <a:tab pos="520700" algn="l"/>
              </a:tabLst>
              <a:defRPr/>
            </a:pPr>
            <a:endParaRPr lang="en-US" altLang="en-US" b="1" dirty="0">
              <a:latin typeface="Times New Roman" panose="02020603050405020304" pitchFamily="18" charset="0"/>
              <a:cs typeface="Times New Roman" panose="02020603050405020304" pitchFamily="18" charset="0"/>
            </a:endParaRPr>
          </a:p>
          <a:p>
            <a:pPr marL="284163" indent="-284163" algn="just">
              <a:lnSpc>
                <a:spcPct val="150000"/>
              </a:lnSpc>
              <a:spcBef>
                <a:spcPct val="0"/>
              </a:spcBef>
              <a:buFontTx/>
              <a:buNone/>
              <a:tabLst>
                <a:tab pos="520700" algn="l"/>
              </a:tabLst>
              <a:defRPr/>
            </a:pPr>
            <a:r>
              <a:rPr lang="en-US" sz="1600" dirty="0">
                <a:latin typeface="Times New Roman" panose="02020603050405020304" pitchFamily="18" charset="0"/>
                <a:cs typeface="Times New Roman" panose="02020603050405020304" pitchFamily="18" charset="0"/>
              </a:rPr>
              <a:t>Zhang et al. (2023) proposed a deep learning–based method for automatic pothole detection using image </a:t>
            </a:r>
          </a:p>
          <a:p>
            <a:pPr marL="284163" indent="-284163" algn="just">
              <a:lnSpc>
                <a:spcPct val="150000"/>
              </a:lnSpc>
              <a:spcBef>
                <a:spcPct val="0"/>
              </a:spcBef>
              <a:buFontTx/>
              <a:buNone/>
              <a:tabLst>
                <a:tab pos="520700" algn="l"/>
              </a:tabLst>
              <a:defRPr/>
            </a:pPr>
            <a:r>
              <a:rPr lang="en-US" sz="1600" dirty="0">
                <a:latin typeface="Times New Roman" panose="02020603050405020304" pitchFamily="18" charset="0"/>
                <a:cs typeface="Times New Roman" panose="02020603050405020304" pitchFamily="18" charset="0"/>
              </a:rPr>
              <a:t>segmentation techniques. The study focused on improving road damage identification by applying</a:t>
            </a:r>
          </a:p>
          <a:p>
            <a:pPr marL="284163" indent="-284163" algn="just">
              <a:lnSpc>
                <a:spcPct val="150000"/>
              </a:lnSpc>
              <a:spcBef>
                <a:spcPct val="0"/>
              </a:spcBef>
              <a:buFontTx/>
              <a:buNone/>
              <a:tabLst>
                <a:tab pos="520700" algn="l"/>
              </a:tabLst>
              <a:defRPr/>
            </a:pPr>
            <a:r>
              <a:rPr lang="en-US" sz="1600" dirty="0">
                <a:latin typeface="Times New Roman" panose="02020603050405020304" pitchFamily="18" charset="0"/>
                <a:cs typeface="Times New Roman" panose="02020603050405020304" pitchFamily="18" charset="0"/>
              </a:rPr>
              <a:t> convolutional neural networks to extract pavement features from road images.</a:t>
            </a:r>
            <a:endParaRPr lang="en-US" altLang="en-US" sz="1600" dirty="0">
              <a:latin typeface="Times New Roman" panose="02020603050405020304" pitchFamily="18" charset="0"/>
              <a:cs typeface="Times New Roman" panose="02020603050405020304" pitchFamily="18" charset="0"/>
            </a:endParaRPr>
          </a:p>
          <a:p>
            <a:pPr marL="284163" indent="-284163" algn="just">
              <a:spcBef>
                <a:spcPct val="0"/>
              </a:spcBef>
              <a:buFontTx/>
              <a:buNone/>
              <a:tabLst>
                <a:tab pos="520700" algn="l"/>
              </a:tabLst>
              <a:defRPr/>
            </a:pPr>
            <a:r>
              <a:rPr lang="en-IN" sz="1600" b="1" dirty="0">
                <a:solidFill>
                  <a:srgbClr val="FF0000"/>
                </a:solidFill>
              </a:rPr>
              <a:t>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Provides high accuracy in detecting potholes from complex road images.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Reduces the need for manual road inspection and improves monitoring efficiency.</a:t>
            </a:r>
          </a:p>
          <a:p>
            <a:pPr marL="285750" indent="-285750" algn="just">
              <a:spcBef>
                <a:spcPct val="0"/>
              </a:spcBef>
              <a:buFont typeface="Arial" panose="020B0604020202020204" pitchFamily="34" charset="0"/>
              <a:buChar char="•"/>
              <a:tabLst>
                <a:tab pos="520700" algn="l"/>
              </a:tabLst>
              <a:defRPr/>
            </a:pPr>
            <a:endParaRPr lang="en-IN" b="1" dirty="0"/>
          </a:p>
          <a:p>
            <a:pPr marL="284163" indent="-284163" algn="just">
              <a:spcBef>
                <a:spcPct val="0"/>
              </a:spcBef>
              <a:buFontTx/>
              <a:buNone/>
              <a:tabLst>
                <a:tab pos="520700" algn="l"/>
              </a:tabLst>
              <a:defRPr/>
            </a:pPr>
            <a:r>
              <a:rPr lang="en-IN" sz="1600" b="1" dirty="0">
                <a:solidFill>
                  <a:srgbClr val="FF0000"/>
                </a:solidFill>
              </a:rPr>
              <a:t>Demerits: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Performance can be affected by poor lighting conditions and shadows.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Requires a large dataset of labeled road images for effective training.</a:t>
            </a:r>
          </a:p>
          <a:p>
            <a:pPr marL="285750" indent="-285750" algn="just">
              <a:spcBef>
                <a:spcPct val="0"/>
              </a:spcBef>
              <a:buFont typeface="Arial" panose="020B0604020202020204" pitchFamily="34" charset="0"/>
              <a:buChar char="•"/>
              <a:tabLst>
                <a:tab pos="520700" algn="l"/>
              </a:tabLst>
              <a:defRPr/>
            </a:pPr>
            <a:endParaRPr lang="en-US" dirty="0"/>
          </a:p>
          <a:p>
            <a:pPr algn="just">
              <a:lnSpc>
                <a:spcPct val="150000"/>
              </a:lnSpc>
              <a:spcBef>
                <a:spcPct val="0"/>
              </a:spcBef>
              <a:tabLst>
                <a:tab pos="520700" algn="l"/>
              </a:tabLst>
              <a:defRPr/>
            </a:pPr>
            <a:r>
              <a:rPr lang="en-IN" sz="1600" b="1" dirty="0"/>
              <a:t>Reference:</a:t>
            </a:r>
            <a:r>
              <a:rPr lang="en-IN" sz="1600" dirty="0"/>
              <a:t> </a:t>
            </a:r>
            <a:r>
              <a:rPr lang="en-US" sz="1600" dirty="0">
                <a:latin typeface="Times New Roman" panose="02020603050405020304" pitchFamily="18" charset="0"/>
                <a:cs typeface="Times New Roman" panose="02020603050405020304" pitchFamily="18" charset="0"/>
              </a:rPr>
              <a:t>Zhang et al., “Pavement Pothole Detection Using Deep Learning-Based Image Segmentation,” 2023.</a:t>
            </a:r>
          </a:p>
          <a:p>
            <a:pPr>
              <a:spcBef>
                <a:spcPct val="0"/>
              </a:spcBef>
              <a:buFontTx/>
              <a:buNone/>
              <a:tabLst>
                <a:tab pos="520700" algn="l"/>
              </a:tabLst>
              <a:defRPr/>
            </a:pPr>
            <a:endParaRPr lang="en-IN" altLang="en-US"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68772FD-0BBD-119D-4058-8A408CC1D5DD}"/>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spTree>
    <p:extLst>
      <p:ext uri="{BB962C8B-B14F-4D97-AF65-F5344CB8AC3E}">
        <p14:creationId xmlns:p14="http://schemas.microsoft.com/office/powerpoint/2010/main" val="2475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91281" y="609600"/>
            <a:ext cx="8961438" cy="59372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tabLst>
                <a:tab pos="520700" algn="l"/>
              </a:tabLst>
              <a:defRPr/>
            </a:pPr>
            <a:endParaRPr lang="en-US" sz="1800" b="1" dirty="0">
              <a:latin typeface="Times New Roman" panose="02020603050405020304" pitchFamily="18" charset="0"/>
              <a:cs typeface="Times New Roman" panose="02020603050405020304" pitchFamily="18" charset="0"/>
            </a:endParaRPr>
          </a:p>
          <a:p>
            <a:pPr algn="ctr">
              <a:lnSpc>
                <a:spcPct val="150000"/>
              </a:lnSpc>
              <a:spcBef>
                <a:spcPct val="0"/>
              </a:spcBef>
              <a:tabLst>
                <a:tab pos="520700" algn="l"/>
              </a:tabLst>
              <a:defRPr/>
            </a:pPr>
            <a:r>
              <a:rPr lang="en-US" sz="1800" b="1" dirty="0">
                <a:latin typeface="+mj-lt"/>
                <a:cs typeface="Times New Roman" panose="02020603050405020304" pitchFamily="18" charset="0"/>
              </a:rPr>
              <a:t>Literature Survey Number -2</a:t>
            </a:r>
          </a:p>
          <a:p>
            <a:pPr algn="just">
              <a:lnSpc>
                <a:spcPct val="150000"/>
              </a:lnSpc>
              <a:spcBef>
                <a:spcPct val="0"/>
              </a:spcBef>
              <a:tabLst>
                <a:tab pos="520700" algn="l"/>
              </a:tabLst>
              <a:defRPr/>
            </a:pPr>
            <a:r>
              <a:rPr lang="en-US" sz="1600" dirty="0">
                <a:latin typeface="Times New Roman" panose="02020603050405020304" pitchFamily="18" charset="0"/>
                <a:cs typeface="Times New Roman" panose="02020603050405020304" pitchFamily="18" charset="0"/>
              </a:rPr>
              <a:t>Li et al. (2022) conducted research on pavement damage detection using deep learning models combined with image preprocessing techniques. </a:t>
            </a:r>
            <a:endParaRPr lang="en-US" dirty="0">
              <a:latin typeface="Times New Roman" panose="02020603050405020304" pitchFamily="18" charset="0"/>
              <a:cs typeface="Times New Roman" panose="02020603050405020304" pitchFamily="18" charset="0"/>
            </a:endParaRPr>
          </a:p>
          <a:p>
            <a:pPr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r>
              <a:rPr lang="en-IN" b="1" dirty="0">
                <a:solidFill>
                  <a:srgbClr val="FF0000"/>
                </a:solidFill>
                <a:latin typeface="Times New Roman" panose="02020603050405020304" pitchFamily="18" charset="0"/>
                <a:cs typeface="Times New Roman" panose="02020603050405020304" pitchFamily="18" charset="0"/>
              </a:rPr>
              <a:t>:</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Improves detection accuracy by correcting image distortion before analysis.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Enhances feature extraction for better identification of pavement damage.</a:t>
            </a:r>
          </a:p>
          <a:p>
            <a:pPr marL="285750" indent="-285750" algn="just">
              <a:lnSpc>
                <a:spcPct val="150000"/>
              </a:lnSpc>
              <a:spcBef>
                <a:spcPct val="0"/>
              </a:spcBef>
              <a:buFont typeface="Arial" panose="020B0604020202020204" pitchFamily="34" charset="0"/>
              <a:buChar char="•"/>
              <a:tabLst>
                <a:tab pos="520700" algn="l"/>
              </a:tabLst>
              <a:defRPr/>
            </a:pPr>
            <a:endParaRPr lang="en-US" dirty="0">
              <a:latin typeface="Times New Roman" panose="02020603050405020304" pitchFamily="18" charset="0"/>
              <a:cs typeface="Times New Roman" panose="02020603050405020304" pitchFamily="18" charset="0"/>
            </a:endParaRPr>
          </a:p>
          <a:p>
            <a:pPr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Image preprocessing increases computational complexity.</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Detection performance may vary depending on camera position and image quality.</a:t>
            </a:r>
          </a:p>
          <a:p>
            <a:pPr algn="just">
              <a:lnSpc>
                <a:spcPct val="150000"/>
              </a:lnSpc>
              <a:spcBef>
                <a:spcPct val="0"/>
              </a:spcBef>
              <a:tabLst>
                <a:tab pos="520700" algn="l"/>
              </a:tabLst>
              <a:defRPr/>
            </a:pPr>
            <a:endParaRPr lang="en-US" dirty="0">
              <a:latin typeface="Times New Roman" panose="02020603050405020304" pitchFamily="18" charset="0"/>
              <a:cs typeface="Times New Roman" panose="02020603050405020304" pitchFamily="18" charset="0"/>
            </a:endParaRPr>
          </a:p>
          <a:p>
            <a:pPr marL="284163" indent="-284163" algn="just">
              <a:lnSpc>
                <a:spcPct val="150000"/>
              </a:lnSpc>
              <a:spcBef>
                <a:spcPct val="0"/>
              </a:spcBef>
              <a:buFontTx/>
              <a:buNone/>
              <a:tabLst>
                <a:tab pos="520700" algn="l"/>
              </a:tabLst>
              <a:defRPr/>
            </a:pPr>
            <a:r>
              <a:rPr lang="en-US" sz="1600" b="1" dirty="0">
                <a:latin typeface="Times New Roman" panose="02020603050405020304" pitchFamily="18" charset="0"/>
                <a:cs typeface="Times New Roman" panose="02020603050405020304" pitchFamily="18" charset="0"/>
              </a:rPr>
              <a:t>Reference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Li et al., “Automatic Road Damage Detection Using Image Correction and Deep Learning </a:t>
            </a:r>
          </a:p>
          <a:p>
            <a:pPr marL="284163" indent="-284163" algn="just">
              <a:lnSpc>
                <a:spcPct val="150000"/>
              </a:lnSpc>
              <a:spcBef>
                <a:spcPct val="0"/>
              </a:spcBef>
              <a:buFontTx/>
              <a:buNone/>
              <a:tabLst>
                <a:tab pos="520700" algn="l"/>
              </a:tabLst>
              <a:defRPr/>
            </a:pPr>
            <a:r>
              <a:rPr lang="en-US" sz="1600" dirty="0">
                <a:latin typeface="Times New Roman" panose="02020603050405020304" pitchFamily="18" charset="0"/>
                <a:cs typeface="Times New Roman" panose="02020603050405020304" pitchFamily="18" charset="0"/>
              </a:rPr>
              <a:t>Segmentation,” 2022.</a:t>
            </a:r>
            <a:endParaRPr lang="en-US" altLang="en-US" sz="1600" dirty="0">
              <a:latin typeface="Times New Roman" panose="02020603050405020304" pitchFamily="18" charset="0"/>
              <a:cs typeface="Times New Roman" panose="02020603050405020304" pitchFamily="18" charset="0"/>
            </a:endParaRPr>
          </a:p>
          <a:p>
            <a:pPr marL="284163" indent="-284163" algn="just">
              <a:spcBef>
                <a:spcPct val="0"/>
              </a:spcBef>
              <a:buFontTx/>
              <a:buNone/>
              <a:tabLst>
                <a:tab pos="520700" algn="l"/>
              </a:tabLst>
              <a:defRPr/>
            </a:pPr>
            <a:endParaRPr lang="en-US" altLang="en-US" b="1" dirty="0">
              <a:latin typeface="Times New Roman" panose="02020603050405020304" pitchFamily="18" charset="0"/>
              <a:cs typeface="Times New Roman" panose="02020603050405020304" pitchFamily="18" charset="0"/>
            </a:endParaRPr>
          </a:p>
          <a:p>
            <a:pPr marL="284163" indent="-284163" algn="just">
              <a:spcBef>
                <a:spcPct val="0"/>
              </a:spcBef>
              <a:buFontTx/>
              <a:buNone/>
              <a:tabLst>
                <a:tab pos="520700" algn="l"/>
              </a:tabLst>
              <a:defRPr/>
            </a:pPr>
            <a:endParaRPr lang="en-US" altLang="en-US" b="1" dirty="0">
              <a:latin typeface="Times New Roman" panose="02020603050405020304" pitchFamily="18" charset="0"/>
              <a:cs typeface="Times New Roman" panose="02020603050405020304" pitchFamily="18" charset="0"/>
            </a:endParaRPr>
          </a:p>
          <a:p>
            <a:pPr marL="284163" indent="-284163">
              <a:spcBef>
                <a:spcPct val="0"/>
              </a:spcBef>
              <a:buFontTx/>
              <a:buNone/>
              <a:tabLst>
                <a:tab pos="520700" algn="l"/>
              </a:tabLst>
              <a:defRPr/>
            </a:pPr>
            <a:endParaRPr lang="en-IN" altLang="en-US" b="1" dirty="0">
              <a:latin typeface="Times New Roman" panose="02020603050405020304" pitchFamily="18" charset="0"/>
              <a:cs typeface="Times New Roman" panose="02020603050405020304" pitchFamily="18" charset="0"/>
            </a:endParaRPr>
          </a:p>
          <a:p>
            <a:pPr>
              <a:spcBef>
                <a:spcPct val="0"/>
              </a:spcBef>
              <a:defRPr/>
            </a:pPr>
            <a:br>
              <a:rPr lang="en-IN" altLang="en-US" b="1" dirty="0">
                <a:latin typeface="Times New Roman" panose="02020603050405020304" pitchFamily="18" charset="0"/>
                <a:cs typeface="Times New Roman" panose="02020603050405020304" pitchFamily="18" charset="0"/>
              </a:rPr>
            </a:br>
            <a:endParaRPr lang="en-IN" altLang="en-US" b="1" dirty="0">
              <a:latin typeface="Times New Roman" panose="02020603050405020304" pitchFamily="18" charset="0"/>
              <a:cs typeface="Times New Roman" panose="02020603050405020304" pitchFamily="18" charset="0"/>
            </a:endParaRPr>
          </a:p>
          <a:p>
            <a:pPr>
              <a:spcBef>
                <a:spcPct val="0"/>
              </a:spcBef>
              <a:buFontTx/>
              <a:buNone/>
              <a:tabLst>
                <a:tab pos="520700" algn="l"/>
              </a:tabLst>
              <a:defRPr/>
            </a:pPr>
            <a:endParaRPr lang="en-IN" altLang="en-US" b="1"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68772FD-0BBD-119D-4058-8A408CC1D5DD}"/>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spTree>
    <p:extLst>
      <p:ext uri="{BB962C8B-B14F-4D97-AF65-F5344CB8AC3E}">
        <p14:creationId xmlns:p14="http://schemas.microsoft.com/office/powerpoint/2010/main" val="132471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9999C04-EFFE-0C9F-C549-6AC33BD338BB}"/>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9D8DDD10-739B-C625-EC1C-9D8107F389F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EAD65511-886F-9FAD-9AF2-78E8F4E79F0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5B9D69ED-43C4-17F2-5B26-E2321BFA37C8}"/>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EB39228-1CF1-FEDF-D8CF-B87893457EFC}"/>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CCA0A3D7-FBD8-8FA5-3775-F81730AF128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870FCCD1-A902-7599-7708-195EFDA60D76}"/>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36A0335-EE17-E286-C298-5AABC95D37A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11135B9-EB21-4351-88A4-FD80E493268A}"/>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3C117064-3844-B193-5CE9-146E9DF367BD}"/>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0B8AE5C3-6AC0-3339-C080-195E67B2F14C}"/>
              </a:ext>
            </a:extLst>
          </p:cNvPr>
          <p:cNvSpPr txBox="1">
            <a:spLocks noChangeArrowheads="1"/>
          </p:cNvSpPr>
          <p:nvPr/>
        </p:nvSpPr>
        <p:spPr>
          <a:xfrm>
            <a:off x="91281" y="630239"/>
            <a:ext cx="8961438" cy="588644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buFontTx/>
              <a:buNone/>
              <a:defRPr/>
            </a:pPr>
            <a:endParaRPr lang="en-IN" altLang="en-US" sz="1800" b="1" dirty="0">
              <a:solidFill>
                <a:schemeClr val="tx1"/>
              </a:solidFill>
              <a:latin typeface="+mj-lt"/>
              <a:cs typeface="Times New Roman" panose="02020603050405020304" pitchFamily="18" charset="0"/>
            </a:endParaRPr>
          </a:p>
          <a:p>
            <a:pPr algn="ctr">
              <a:spcBef>
                <a:spcPct val="0"/>
              </a:spcBef>
              <a:buFontTx/>
              <a:buNone/>
              <a:defRPr/>
            </a:pPr>
            <a:r>
              <a:rPr lang="en-IN" altLang="en-US" sz="1800" b="1" dirty="0">
                <a:solidFill>
                  <a:schemeClr val="tx1"/>
                </a:solidFill>
                <a:latin typeface="+mj-lt"/>
                <a:cs typeface="Times New Roman" panose="02020603050405020304" pitchFamily="18" charset="0"/>
              </a:rPr>
              <a:t>Literature Survey Number-3</a:t>
            </a:r>
          </a:p>
          <a:p>
            <a:pPr>
              <a:spcBef>
                <a:spcPct val="0"/>
              </a:spcBef>
              <a:buFontTx/>
              <a:buNone/>
              <a:defRPr/>
            </a:pPr>
            <a:endParaRPr lang="en-IN" altLang="en-US" b="1" dirty="0">
              <a:solidFill>
                <a:schemeClr val="tx1"/>
              </a:solidFill>
              <a:latin typeface="Times New Roman" panose="02020603050405020304" pitchFamily="18" charset="0"/>
              <a:cs typeface="Times New Roman" panose="02020603050405020304" pitchFamily="18" charset="0"/>
            </a:endParaRPr>
          </a:p>
          <a:p>
            <a:pPr algn="just">
              <a:lnSpc>
                <a:spcPct val="150000"/>
              </a:lnSpc>
              <a:spcBef>
                <a:spcPct val="0"/>
              </a:spcBef>
              <a:buFontTx/>
              <a:buNone/>
              <a:defRPr/>
            </a:pPr>
            <a:r>
              <a:rPr lang="en-US" sz="1600" dirty="0">
                <a:latin typeface="Times New Roman" panose="02020603050405020304" pitchFamily="18" charset="0"/>
                <a:cs typeface="Times New Roman" panose="02020603050405020304" pitchFamily="18" charset="0"/>
              </a:rPr>
              <a:t>Maeda et al. (2018) conducted research on road damage detection using deep learning and image-based datasets. They developed a system that uses convolutional neural networks (CNNs) to automatically identify different types of road damages.</a:t>
            </a:r>
            <a:endParaRPr lang="en-US" altLang="en-US" sz="1600" dirty="0">
              <a:solidFill>
                <a:schemeClr val="tx1"/>
              </a:solidFill>
              <a:latin typeface="Times New Roman" panose="02020603050405020304" pitchFamily="18" charset="0"/>
              <a:cs typeface="Times New Roman" panose="02020603050405020304" pitchFamily="18" charset="0"/>
            </a:endParaRPr>
          </a:p>
          <a:p>
            <a:pPr algn="just">
              <a:lnSpc>
                <a:spcPct val="150000"/>
              </a:lnSpc>
              <a:spcBef>
                <a:spcPct val="0"/>
              </a:spcBef>
              <a:buFontTx/>
              <a:buNone/>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gn="just">
              <a:lnSpc>
                <a:spcPct val="150000"/>
              </a:lnSpc>
              <a:spcBef>
                <a:spcPct val="0"/>
              </a:spcBef>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Enables automatic and large-scale road damage detection using smartphone or vehicle cameras.</a:t>
            </a:r>
          </a:p>
          <a:p>
            <a:pPr marL="285750" indent="-285750" algn="just">
              <a:lnSpc>
                <a:spcPct val="150000"/>
              </a:lnSpc>
              <a:spcBef>
                <a:spcPct val="0"/>
              </a:spcBef>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Provides a publicly available dataset that helps improve research in road damage detection.</a:t>
            </a:r>
          </a:p>
          <a:p>
            <a:pPr marL="285750" indent="-285750" algn="just">
              <a:lnSpc>
                <a:spcPct val="150000"/>
              </a:lnSpc>
              <a:spcBef>
                <a:spcPct val="0"/>
              </a:spcBef>
              <a:buFont typeface="Arial" panose="020B0604020202020204" pitchFamily="34" charset="0"/>
              <a:buChar char="•"/>
              <a:defRPr/>
            </a:pPr>
            <a:endParaRPr lang="en-US" altLang="en-US" sz="1600" b="1" dirty="0">
              <a:solidFill>
                <a:schemeClr val="tx1"/>
              </a:solidFill>
              <a:latin typeface="Times New Roman" panose="02020603050405020304" pitchFamily="18" charset="0"/>
              <a:cs typeface="Times New Roman" panose="02020603050405020304" pitchFamily="18" charset="0"/>
            </a:endParaRPr>
          </a:p>
          <a:p>
            <a:pPr algn="just">
              <a:lnSpc>
                <a:spcPct val="150000"/>
              </a:lnSpc>
              <a:spcBef>
                <a:spcPct val="0"/>
              </a:spcBef>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gn="just">
              <a:lnSpc>
                <a:spcPct val="150000"/>
              </a:lnSpc>
              <a:spcBef>
                <a:spcPct val="0"/>
              </a:spcBef>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Detection accuracy may decrease in complex environments with shadows or poor lighting.</a:t>
            </a:r>
          </a:p>
          <a:p>
            <a:pPr marL="285750" indent="-285750" algn="just">
              <a:lnSpc>
                <a:spcPct val="150000"/>
              </a:lnSpc>
              <a:spcBef>
                <a:spcPct val="0"/>
              </a:spcBef>
              <a:buFont typeface="Arial" panose="020B0604020202020204" pitchFamily="34" charset="0"/>
              <a:buChar char="•"/>
              <a:defRPr/>
            </a:pPr>
            <a:r>
              <a:rPr lang="en-US" sz="1600" dirty="0">
                <a:latin typeface="Times New Roman" panose="02020603050405020304" pitchFamily="18" charset="0"/>
                <a:cs typeface="Times New Roman" panose="02020603050405020304" pitchFamily="18" charset="0"/>
              </a:rPr>
              <a:t>Requires high computational resources for training deep learning models.</a:t>
            </a:r>
          </a:p>
          <a:p>
            <a:pPr algn="just">
              <a:lnSpc>
                <a:spcPct val="150000"/>
              </a:lnSpc>
              <a:spcBef>
                <a:spcPct val="0"/>
              </a:spcBef>
              <a:defRPr/>
            </a:pPr>
            <a:endParaRPr lang="en-US" sz="1600" b="1" dirty="0">
              <a:latin typeface="Times New Roman" panose="02020603050405020304" pitchFamily="18" charset="0"/>
              <a:cs typeface="Times New Roman" panose="02020603050405020304" pitchFamily="18" charset="0"/>
            </a:endParaRPr>
          </a:p>
          <a:p>
            <a:pPr algn="just">
              <a:lnSpc>
                <a:spcPct val="150000"/>
              </a:lnSpc>
              <a:spcBef>
                <a:spcPct val="0"/>
              </a:spcBef>
              <a:defRPr/>
            </a:pPr>
            <a:r>
              <a:rPr lang="en-US" sz="1600" b="1" dirty="0">
                <a:latin typeface="Times New Roman" panose="02020603050405020304" pitchFamily="18" charset="0"/>
                <a:cs typeface="Times New Roman" panose="02020603050405020304" pitchFamily="18" charset="0"/>
              </a:rPr>
              <a:t>Reference:</a:t>
            </a:r>
            <a:r>
              <a:rPr lang="en-US" sz="1600" dirty="0">
                <a:latin typeface="Times New Roman" panose="02020603050405020304" pitchFamily="18" charset="0"/>
                <a:cs typeface="Times New Roman" panose="02020603050405020304" pitchFamily="18" charset="0"/>
              </a:rPr>
              <a:t> K. Maeda et al., “Road Damage Detection Using Deep Neural Networks with Images Captured Through a Smartphone,” </a:t>
            </a:r>
            <a:r>
              <a:rPr lang="en-US" sz="1600" i="1" dirty="0">
                <a:latin typeface="Times New Roman" panose="02020603050405020304" pitchFamily="18" charset="0"/>
                <a:cs typeface="Times New Roman" panose="02020603050405020304" pitchFamily="18" charset="0"/>
              </a:rPr>
              <a:t>Computer-Aided Civil and Infrastructure Engineering</a:t>
            </a:r>
            <a:r>
              <a:rPr lang="en-US" sz="1600" dirty="0">
                <a:latin typeface="Times New Roman" panose="02020603050405020304" pitchFamily="18" charset="0"/>
                <a:cs typeface="Times New Roman" panose="02020603050405020304" pitchFamily="18" charset="0"/>
              </a:rPr>
              <a:t>, 2018.</a:t>
            </a:r>
          </a:p>
          <a:p>
            <a:pPr algn="just">
              <a:spcBef>
                <a:spcPct val="0"/>
              </a:spcBef>
              <a:defRPr/>
            </a:pPr>
            <a:endParaRPr lang="en-IN" altLang="en-US" b="1" dirty="0">
              <a:solidFill>
                <a:schemeClr val="tx1"/>
              </a:solidFill>
              <a:latin typeface="Times New Roman" panose="02020603050405020304" pitchFamily="18" charset="0"/>
              <a:cs typeface="Times New Roman" panose="02020603050405020304" pitchFamily="18" charset="0"/>
            </a:endParaRPr>
          </a:p>
          <a:p>
            <a:pPr algn="just">
              <a:spcBef>
                <a:spcPct val="0"/>
              </a:spcBef>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5141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79860C2A-D45E-AC6F-9907-E1899AE42847}"/>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C359E9A-E9E1-013C-869B-EE2ED1D5597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431C717-D04D-0ECD-A214-F5EAAEAFD31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559F2489-48EE-29FE-849B-A3E5EE0D6C93}"/>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738681B-74DF-9C9C-40AB-4A2966034A6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6C65E27B-8A37-12D3-73D1-49E72C0F4BE8}"/>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E699442-CB12-21FF-4392-547A9675F335}"/>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9738DFC-3F42-BF9A-B86D-908211FFF8C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02C1EE6F-62D6-7B2B-5B9C-0745629CA12E}"/>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D330D4B-3EC1-1BF2-90EF-2CF9FEE52ED5}"/>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1E93B031-FAB8-B9DA-BDEB-E32391672AE3}"/>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tabLst>
                <a:tab pos="520700" algn="l"/>
              </a:tabLst>
              <a:defRPr/>
            </a:pPr>
            <a:endParaRPr lang="en-US" sz="1800" b="1" dirty="0"/>
          </a:p>
          <a:p>
            <a:pPr marL="284163" indent="-284163" algn="ctr">
              <a:spcBef>
                <a:spcPct val="0"/>
              </a:spcBef>
              <a:tabLst>
                <a:tab pos="520700" algn="l"/>
              </a:tabLst>
              <a:defRPr/>
            </a:pPr>
            <a:r>
              <a:rPr lang="en-US" sz="1800" b="1" dirty="0"/>
              <a:t>Literature Survey Number -4</a:t>
            </a:r>
          </a:p>
          <a:p>
            <a:pPr marL="284163" indent="-284163" algn="just">
              <a:lnSpc>
                <a:spcPct val="150000"/>
              </a:lnSpc>
              <a:spcBef>
                <a:spcPct val="0"/>
              </a:spcBef>
              <a:tabLst>
                <a:tab pos="520700" algn="l"/>
              </a:tabLst>
              <a:defRPr/>
            </a:pPr>
            <a:r>
              <a:rPr lang="en-US" sz="1600" dirty="0">
                <a:latin typeface="Times New Roman" panose="02020603050405020304" pitchFamily="18" charset="0"/>
                <a:cs typeface="Times New Roman" panose="02020603050405020304" pitchFamily="18" charset="0"/>
              </a:rPr>
              <a:t>Koch and </a:t>
            </a:r>
            <a:r>
              <a:rPr lang="en-US" sz="1600" dirty="0" err="1">
                <a:latin typeface="Times New Roman" panose="02020603050405020304" pitchFamily="18" charset="0"/>
                <a:cs typeface="Times New Roman" panose="02020603050405020304" pitchFamily="18" charset="0"/>
              </a:rPr>
              <a:t>Brilakis</a:t>
            </a:r>
            <a:r>
              <a:rPr lang="en-US" sz="1600" dirty="0">
                <a:latin typeface="Times New Roman" panose="02020603050405020304" pitchFamily="18" charset="0"/>
                <a:cs typeface="Times New Roman" panose="02020603050405020304" pitchFamily="18" charset="0"/>
              </a:rPr>
              <a:t> (2011) developed an automated pavement defect detection system using computer</a:t>
            </a:r>
          </a:p>
          <a:p>
            <a:pPr marL="284163" indent="-284163" algn="just">
              <a:lnSpc>
                <a:spcPct val="150000"/>
              </a:lnSpc>
              <a:spcBef>
                <a:spcPct val="0"/>
              </a:spcBef>
              <a:tabLst>
                <a:tab pos="520700" algn="l"/>
              </a:tabLst>
              <a:defRPr/>
            </a:pPr>
            <a:r>
              <a:rPr lang="en-US" sz="1600" dirty="0">
                <a:latin typeface="Times New Roman" panose="02020603050405020304" pitchFamily="18" charset="0"/>
                <a:cs typeface="Times New Roman" panose="02020603050405020304" pitchFamily="18" charset="0"/>
              </a:rPr>
              <a:t> vision techniques. Their approach used image processing algorithms to identify potholes and cracks</a:t>
            </a:r>
          </a:p>
          <a:p>
            <a:pPr marL="284163" indent="-284163" algn="just">
              <a:lnSpc>
                <a:spcPct val="150000"/>
              </a:lnSpc>
              <a:spcBef>
                <a:spcPct val="0"/>
              </a:spcBef>
              <a:tabLst>
                <a:tab pos="520700" algn="l"/>
              </a:tabLst>
              <a:defRPr/>
            </a:pPr>
            <a:r>
              <a:rPr lang="en-US" sz="1600" dirty="0">
                <a:latin typeface="Times New Roman" panose="02020603050405020304" pitchFamily="18" charset="0"/>
                <a:cs typeface="Times New Roman" panose="02020603050405020304" pitchFamily="18" charset="0"/>
              </a:rPr>
              <a:t> from road surface images captured by cameras.</a:t>
            </a:r>
          </a:p>
          <a:p>
            <a:pPr marL="284163" indent="-284163"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Reduces the need for manual road inspection.</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Can detect multiple types of pavement defects.</a:t>
            </a:r>
          </a:p>
          <a:p>
            <a:pPr marL="285750" indent="-285750" algn="just">
              <a:lnSpc>
                <a:spcPct val="150000"/>
              </a:lnSpc>
              <a:spcBef>
                <a:spcPct val="0"/>
              </a:spcBef>
              <a:buFont typeface="Arial" panose="020B0604020202020204" pitchFamily="34" charset="0"/>
              <a:buChar char="•"/>
              <a:tabLst>
                <a:tab pos="520700" algn="l"/>
              </a:tabLst>
              <a:defRPr/>
            </a:pPr>
            <a:endParaRPr lang="en-US" sz="1600" b="1" dirty="0">
              <a:latin typeface="Times New Roman" panose="02020603050405020304" pitchFamily="18" charset="0"/>
              <a:cs typeface="Times New Roman" panose="02020603050405020304" pitchFamily="18" charset="0"/>
            </a:endParaRPr>
          </a:p>
          <a:p>
            <a:pPr marL="284163" indent="-284163"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Performance depends heavily on image quality.</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Traditional image processing methods have limited accuracy compared to deep learning.</a:t>
            </a:r>
          </a:p>
          <a:p>
            <a:pPr>
              <a:lnSpc>
                <a:spcPct val="150000"/>
              </a:lnSpc>
            </a:pPr>
            <a:endParaRPr lang="en-US" sz="1600" b="1" dirty="0">
              <a:latin typeface="Times New Roman" panose="02020603050405020304" pitchFamily="18" charset="0"/>
              <a:cs typeface="Times New Roman" panose="02020603050405020304" pitchFamily="18" charset="0"/>
            </a:endParaRPr>
          </a:p>
          <a:p>
            <a:pPr marL="284163" indent="-284163" algn="just">
              <a:lnSpc>
                <a:spcPct val="150000"/>
              </a:lnSpc>
              <a:spcBef>
                <a:spcPct val="0"/>
              </a:spcBef>
              <a:tabLst>
                <a:tab pos="520700" algn="l"/>
              </a:tabLst>
              <a:defRPr/>
            </a:pPr>
            <a:r>
              <a:rPr lang="en-IN" sz="1600" b="1" dirty="0">
                <a:latin typeface="Times New Roman" panose="02020603050405020304" pitchFamily="18" charset="0"/>
                <a:cs typeface="Times New Roman" panose="02020603050405020304" pitchFamily="18" charset="0"/>
              </a:rPr>
              <a:t>Reference:</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 Koch and I. Brilakis, “Pothole Detection in Asphalt Pavement Images,” </a:t>
            </a:r>
            <a:r>
              <a:rPr lang="en-US" sz="1600" i="1" dirty="0">
                <a:latin typeface="Times New Roman" panose="02020603050405020304" pitchFamily="18" charset="0"/>
                <a:cs typeface="Times New Roman" panose="02020603050405020304" pitchFamily="18" charset="0"/>
              </a:rPr>
              <a:t>Informatics</a:t>
            </a:r>
            <a:r>
              <a:rPr lang="en-US" sz="1600" dirty="0">
                <a:latin typeface="Times New Roman" panose="02020603050405020304" pitchFamily="18" charset="0"/>
                <a:cs typeface="Times New Roman" panose="02020603050405020304" pitchFamily="18" charset="0"/>
              </a:rPr>
              <a:t>, 2011.</a:t>
            </a:r>
            <a:endParaRPr lang="en-IN" sz="1600" b="1" dirty="0">
              <a:latin typeface="Times New Roman" panose="02020603050405020304" pitchFamily="18" charset="0"/>
              <a:cs typeface="Times New Roman" panose="02020603050405020304" pitchFamily="18" charset="0"/>
            </a:endParaRPr>
          </a:p>
          <a:p>
            <a:pPr marL="284163" indent="-284163" algn="just">
              <a:spcBef>
                <a:spcPct val="0"/>
              </a:spcBef>
              <a:tabLst>
                <a:tab pos="520700" algn="l"/>
              </a:tabLst>
              <a:defRPr/>
            </a:pPr>
            <a:endParaRPr lang="en-US" sz="1800" b="1" dirty="0"/>
          </a:p>
          <a:p>
            <a:pPr marL="284163" indent="-284163" algn="just">
              <a:spcBef>
                <a:spcPct val="0"/>
              </a:spcBef>
              <a:tabLst>
                <a:tab pos="520700" algn="l"/>
              </a:tabLst>
              <a:defRPr/>
            </a:pPr>
            <a:endParaRPr lang="en-US" sz="2400" b="1" dirty="0"/>
          </a:p>
          <a:p>
            <a:pPr marL="284163" indent="-284163" algn="just">
              <a:spcBef>
                <a:spcPct val="0"/>
              </a:spcBef>
              <a:buFontTx/>
              <a:buNone/>
              <a:tabLst>
                <a:tab pos="520700" algn="l"/>
              </a:tabLst>
              <a:defRPr/>
            </a:pPr>
            <a:r>
              <a:rPr lang="en-US" altLang="en-US" sz="2400" dirty="0">
                <a:latin typeface="Times New Roman" panose="02020603050405020304" pitchFamily="18" charset="0"/>
                <a:cs typeface="Times New Roman" panose="02020603050405020304" pitchFamily="18" charset="0"/>
              </a:rPr>
              <a:t> </a:t>
            </a: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defRPr/>
            </a:pPr>
            <a:endParaRPr lang="en-IN" altLang="en-US" sz="2200" i="1" dirty="0">
              <a:solidFill>
                <a:schemeClr val="accent1">
                  <a:lumMod val="75000"/>
                </a:schemeClr>
              </a:solidFill>
              <a:latin typeface="Times New Roman" panose="02020603050405020304" pitchFamily="18" charset="0"/>
              <a:cs typeface="Times New Roman" panose="02020603050405020304" pitchFamily="18" charset="0"/>
            </a:endParaRPr>
          </a:p>
          <a:p>
            <a:pPr>
              <a:spcBef>
                <a:spcPct val="0"/>
              </a:spcBef>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874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79860C2A-D45E-AC6F-9907-E1899AE42847}"/>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C359E9A-E9E1-013C-869B-EE2ED1D5597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431C717-D04D-0ECD-A214-F5EAAEAFD31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559F2489-48EE-29FE-849B-A3E5EE0D6C93}"/>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738681B-74DF-9C9C-40AB-4A2966034A6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6C65E27B-8A37-12D3-73D1-49E72C0F4BE8}"/>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E699442-CB12-21FF-4392-547A9675F335}"/>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9738DFC-3F42-BF9A-B86D-908211FFF8C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02C1EE6F-62D6-7B2B-5B9C-0745629CA12E}"/>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D330D4B-3EC1-1BF2-90EF-2CF9FEE52ED5}"/>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1E93B031-FAB8-B9DA-BDEB-E32391672AE3}"/>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tabLst>
                <a:tab pos="520700" algn="l"/>
              </a:tabLst>
              <a:defRPr/>
            </a:pPr>
            <a:endParaRPr lang="en-US" sz="1800" b="1" dirty="0"/>
          </a:p>
          <a:p>
            <a:pPr marL="284163" indent="-284163" algn="ctr">
              <a:spcBef>
                <a:spcPct val="0"/>
              </a:spcBef>
              <a:tabLst>
                <a:tab pos="520700" algn="l"/>
              </a:tabLst>
              <a:defRPr/>
            </a:pPr>
            <a:r>
              <a:rPr lang="en-US" sz="1800" b="1" dirty="0"/>
              <a:t>Literature Survey Number -5</a:t>
            </a:r>
          </a:p>
          <a:p>
            <a:pPr marL="284163" indent="-284163" algn="just">
              <a:spcBef>
                <a:spcPct val="0"/>
              </a:spcBef>
              <a:tabLst>
                <a:tab pos="520700" algn="l"/>
              </a:tabLst>
              <a:defRPr/>
            </a:pPr>
            <a:endParaRPr lang="en-US" b="1" dirty="0"/>
          </a:p>
          <a:p>
            <a:pPr>
              <a:lnSpc>
                <a:spcPct val="150000"/>
              </a:lnSpc>
            </a:pPr>
            <a:r>
              <a:rPr lang="en-US" sz="1600" dirty="0">
                <a:latin typeface="Times New Roman" panose="02020603050405020304" pitchFamily="18" charset="0"/>
                <a:cs typeface="Times New Roman" panose="02020603050405020304" pitchFamily="18" charset="0"/>
              </a:rPr>
              <a:t>Zhang et al. (2019) proposed a deep learning-based pothole detection method using Convolutional Neural Networks (CNNs) to automatically classify road surface images and detect pothole regions.</a:t>
            </a:r>
          </a:p>
          <a:p>
            <a:pPr marL="284163" indent="-284163"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High accuracy in detecting potholes in complex road environments.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Capable of learning important road surface features automatically.</a:t>
            </a:r>
          </a:p>
          <a:p>
            <a:pPr marL="285750" indent="-285750" algn="just">
              <a:lnSpc>
                <a:spcPct val="150000"/>
              </a:lnSpc>
              <a:spcBef>
                <a:spcPct val="0"/>
              </a:spcBef>
              <a:buFont typeface="Arial" panose="020B0604020202020204" pitchFamily="34" charset="0"/>
              <a:buChar char="•"/>
              <a:tabLst>
                <a:tab pos="520700" algn="l"/>
              </a:tabLst>
              <a:defRPr/>
            </a:pPr>
            <a:endParaRPr lang="en-US" sz="1600" dirty="0">
              <a:latin typeface="Times New Roman" panose="02020603050405020304" pitchFamily="18" charset="0"/>
              <a:cs typeface="Times New Roman" panose="02020603050405020304" pitchFamily="18" charset="0"/>
            </a:endParaRPr>
          </a:p>
          <a:p>
            <a:pPr marL="284163" indent="-284163"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Requires large labeled datasets for training.</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Computationally expensive for real-time applications.</a:t>
            </a:r>
          </a:p>
          <a:p>
            <a:pPr marL="285750" indent="-285750" algn="just">
              <a:lnSpc>
                <a:spcPct val="150000"/>
              </a:lnSpc>
              <a:spcBef>
                <a:spcPct val="0"/>
              </a:spcBef>
              <a:buFont typeface="Arial" panose="020B0604020202020204" pitchFamily="34" charset="0"/>
              <a:buChar char="•"/>
              <a:tabLst>
                <a:tab pos="520700" algn="l"/>
              </a:tabLst>
              <a:defRPr/>
            </a:pPr>
            <a:endParaRPr lang="en-US" sz="1600" dirty="0">
              <a:latin typeface="Times New Roman" panose="02020603050405020304" pitchFamily="18" charset="0"/>
              <a:cs typeface="Times New Roman" panose="02020603050405020304" pitchFamily="18" charset="0"/>
            </a:endParaRPr>
          </a:p>
          <a:p>
            <a:pPr algn="just">
              <a:lnSpc>
                <a:spcPct val="150000"/>
              </a:lnSpc>
              <a:spcBef>
                <a:spcPct val="0"/>
              </a:spcBef>
              <a:tabLst>
                <a:tab pos="520700" algn="l"/>
              </a:tabLst>
              <a:defRPr/>
            </a:pPr>
            <a:r>
              <a:rPr lang="en-IN" sz="1600" b="1" dirty="0">
                <a:latin typeface="Times New Roman" panose="02020603050405020304" pitchFamily="18" charset="0"/>
                <a:cs typeface="Times New Roman" panose="02020603050405020304" pitchFamily="18" charset="0"/>
              </a:rPr>
              <a:t>Reference:</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L. Zhang et al., “Road Damage Detection Using Deep Convolutional Neural Networks,” 2019.</a:t>
            </a:r>
            <a:endParaRPr lang="en-IN" sz="1600" dirty="0">
              <a:latin typeface="Times New Roman" panose="02020603050405020304" pitchFamily="18" charset="0"/>
              <a:cs typeface="Times New Roman" panose="02020603050405020304" pitchFamily="18" charset="0"/>
            </a:endParaRPr>
          </a:p>
          <a:p>
            <a:pPr marL="284163" indent="-284163" algn="just">
              <a:spcBef>
                <a:spcPct val="0"/>
              </a:spcBef>
              <a:tabLst>
                <a:tab pos="520700" algn="l"/>
              </a:tabLst>
              <a:defRPr/>
            </a:pPr>
            <a:endParaRPr lang="en-IN" sz="1800" b="1" dirty="0"/>
          </a:p>
          <a:p>
            <a:pPr marL="284163" indent="-284163" algn="just">
              <a:spcBef>
                <a:spcPct val="0"/>
              </a:spcBef>
              <a:tabLst>
                <a:tab pos="520700" algn="l"/>
              </a:tabLst>
              <a:defRPr/>
            </a:pPr>
            <a:endParaRPr lang="en-IN" sz="1800" b="1" dirty="0"/>
          </a:p>
          <a:p>
            <a:pPr marL="284163" indent="-284163" algn="just">
              <a:spcBef>
                <a:spcPct val="0"/>
              </a:spcBef>
              <a:tabLst>
                <a:tab pos="520700" algn="l"/>
              </a:tabLst>
              <a:defRPr/>
            </a:pPr>
            <a:endParaRPr lang="en-US" sz="1800" b="1" dirty="0"/>
          </a:p>
          <a:p>
            <a:pPr marL="284163" indent="-284163" algn="just">
              <a:spcBef>
                <a:spcPct val="0"/>
              </a:spcBef>
              <a:tabLst>
                <a:tab pos="520700" algn="l"/>
              </a:tabLst>
              <a:defRPr/>
            </a:pPr>
            <a:endParaRPr lang="en-US" sz="2400" b="1" dirty="0"/>
          </a:p>
          <a:p>
            <a:pPr marL="284163" indent="-284163" algn="just">
              <a:spcBef>
                <a:spcPct val="0"/>
              </a:spcBef>
              <a:buFontTx/>
              <a:buNone/>
              <a:tabLst>
                <a:tab pos="520700" algn="l"/>
              </a:tabLst>
              <a:defRPr/>
            </a:pPr>
            <a:r>
              <a:rPr lang="en-US" altLang="en-US" sz="2400" dirty="0">
                <a:latin typeface="Times New Roman" panose="02020603050405020304" pitchFamily="18" charset="0"/>
                <a:cs typeface="Times New Roman" panose="02020603050405020304" pitchFamily="18" charset="0"/>
              </a:rPr>
              <a:t> </a:t>
            </a: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defRPr/>
            </a:pPr>
            <a:endParaRPr lang="en-IN" altLang="en-US" sz="2200" i="1" dirty="0">
              <a:solidFill>
                <a:schemeClr val="accent1">
                  <a:lumMod val="75000"/>
                </a:schemeClr>
              </a:solidFill>
              <a:latin typeface="Times New Roman" panose="02020603050405020304" pitchFamily="18" charset="0"/>
              <a:cs typeface="Times New Roman" panose="02020603050405020304" pitchFamily="18" charset="0"/>
            </a:endParaRPr>
          </a:p>
          <a:p>
            <a:pPr>
              <a:spcBef>
                <a:spcPct val="0"/>
              </a:spcBef>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2787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08301138-E97C-9B10-4E7C-40D8CAC54028}"/>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8312FABD-FB66-1F30-1412-79E34BAD1870}"/>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A10B404D-6667-69F8-415D-72A60804AE22}"/>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4655CC3F-63C4-00A5-562D-36B2B2F14D0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94008B85-FB30-EA07-0662-C8157EF6D4A2}"/>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BFC1D18A-D6A5-2737-5990-F3832F4114E7}"/>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0FCCAC8-92FE-2997-E055-14CADF0BA4E6}"/>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C4B27454-3F2C-9B8F-6A96-0801F414811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BAA79BE0-7783-BEEC-BA2F-37B9FFE69A2D}"/>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9D7C757-3C5C-AABF-1C9B-1DABF4F6CB6E}"/>
              </a:ext>
            </a:extLst>
          </p:cNvPr>
          <p:cNvSpPr txBox="1"/>
          <p:nvPr/>
        </p:nvSpPr>
        <p:spPr>
          <a:xfrm>
            <a:off x="2794685" y="599406"/>
            <a:ext cx="3554630" cy="45719"/>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F2A13E87-CB46-DE27-CEA4-78A58C29A1FB}"/>
              </a:ext>
            </a:extLst>
          </p:cNvPr>
          <p:cNvSpPr txBox="1">
            <a:spLocks noChangeArrowheads="1"/>
          </p:cNvSpPr>
          <p:nvPr/>
        </p:nvSpPr>
        <p:spPr>
          <a:xfrm>
            <a:off x="91281" y="656239"/>
            <a:ext cx="8961438" cy="586044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tabLst>
                <a:tab pos="520700" algn="l"/>
              </a:tabLst>
              <a:defRPr/>
            </a:pPr>
            <a:endParaRPr lang="en-US" sz="1800" b="1" dirty="0"/>
          </a:p>
          <a:p>
            <a:pPr algn="ctr">
              <a:spcBef>
                <a:spcPct val="0"/>
              </a:spcBef>
              <a:tabLst>
                <a:tab pos="520700" algn="l"/>
              </a:tabLst>
              <a:defRPr/>
            </a:pPr>
            <a:r>
              <a:rPr lang="en-US" sz="1800" b="1" dirty="0"/>
              <a:t>Literature Survey Number -6</a:t>
            </a:r>
          </a:p>
          <a:p>
            <a:pPr algn="just">
              <a:spcBef>
                <a:spcPct val="0"/>
              </a:spcBef>
              <a:tabLst>
                <a:tab pos="520700" algn="l"/>
              </a:tabLst>
              <a:defRPr/>
            </a:pPr>
            <a:endParaRPr lang="en-US" b="1" dirty="0"/>
          </a:p>
          <a:p>
            <a:pPr>
              <a:lnSpc>
                <a:spcPct val="150000"/>
              </a:lnSpc>
            </a:pPr>
            <a:r>
              <a:rPr lang="en-US" sz="1600" dirty="0">
                <a:latin typeface="Times New Roman" panose="02020603050405020304" pitchFamily="18" charset="0"/>
                <a:cs typeface="Times New Roman" panose="02020603050405020304" pitchFamily="18" charset="0"/>
              </a:rPr>
              <a:t>Fan et al. (2020) introduced a road damage detection system using deep learning and object detection models such as YOLO to detect potholes and cracks in real-time.</a:t>
            </a:r>
          </a:p>
          <a:p>
            <a:pPr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Provides fast detection suitable for real-time monitoring.</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Capable of detecting multiple road defects simultaneously.</a:t>
            </a:r>
          </a:p>
          <a:p>
            <a:pPr algn="just">
              <a:lnSpc>
                <a:spcPct val="150000"/>
              </a:lnSpc>
              <a:spcBef>
                <a:spcPct val="0"/>
              </a:spcBef>
              <a:tabLst>
                <a:tab pos="520700" algn="l"/>
              </a:tabLst>
              <a:defRPr/>
            </a:pPr>
            <a:endParaRPr lang="en-US" sz="1600" b="1" dirty="0">
              <a:latin typeface="Times New Roman" panose="02020603050405020304" pitchFamily="18" charset="0"/>
              <a:cs typeface="Times New Roman" panose="02020603050405020304" pitchFamily="18" charset="0"/>
            </a:endParaRPr>
          </a:p>
          <a:p>
            <a:pPr algn="just">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Accuracy may reduce under poor lighting conditions.</a:t>
            </a:r>
          </a:p>
          <a:p>
            <a:pPr marL="285750" indent="-285750" algn="just">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Requires high-performance hardware for deployment.</a:t>
            </a:r>
          </a:p>
          <a:p>
            <a:pPr algn="just">
              <a:lnSpc>
                <a:spcPct val="150000"/>
              </a:lnSpc>
              <a:spcBef>
                <a:spcPct val="0"/>
              </a:spcBef>
              <a:tabLst>
                <a:tab pos="520700" algn="l"/>
              </a:tabLst>
              <a:defRPr/>
            </a:pPr>
            <a:endParaRPr lang="en-US" altLang="en-US" sz="1600" dirty="0">
              <a:latin typeface="Times New Roman" panose="02020603050405020304" pitchFamily="18" charset="0"/>
              <a:cs typeface="Times New Roman" panose="02020603050405020304" pitchFamily="18" charset="0"/>
            </a:endParaRPr>
          </a:p>
          <a:p>
            <a:pPr algn="just">
              <a:lnSpc>
                <a:spcPct val="150000"/>
              </a:lnSpc>
              <a:spcBef>
                <a:spcPct val="0"/>
              </a:spcBef>
              <a:tabLst>
                <a:tab pos="520700" algn="l"/>
              </a:tabLst>
              <a:defRPr/>
            </a:pPr>
            <a:r>
              <a:rPr lang="en-US" sz="1600" b="1" dirty="0">
                <a:latin typeface="Times New Roman" panose="02020603050405020304" pitchFamily="18" charset="0"/>
                <a:cs typeface="Times New Roman" panose="02020603050405020304" pitchFamily="18" charset="0"/>
              </a:rPr>
              <a:t>Reference:</a:t>
            </a:r>
            <a:r>
              <a:rPr lang="en-US" sz="1600" dirty="0">
                <a:latin typeface="Times New Roman" panose="02020603050405020304" pitchFamily="18" charset="0"/>
                <a:cs typeface="Times New Roman" panose="02020603050405020304" pitchFamily="18" charset="0"/>
              </a:rPr>
              <a:t> R. Fan et al., “Road Damage Detection Based on Deep Neural Networks,” </a:t>
            </a:r>
            <a:r>
              <a:rPr lang="en-US" sz="1600" i="1" dirty="0">
                <a:latin typeface="Times New Roman" panose="02020603050405020304" pitchFamily="18" charset="0"/>
                <a:cs typeface="Times New Roman" panose="02020603050405020304" pitchFamily="18" charset="0"/>
              </a:rPr>
              <a:t>IEEE Intelligent Transportation Systems</a:t>
            </a:r>
            <a:r>
              <a:rPr lang="en-US" sz="1600" dirty="0">
                <a:latin typeface="Times New Roman" panose="02020603050405020304" pitchFamily="18" charset="0"/>
                <a:cs typeface="Times New Roman" panose="02020603050405020304" pitchFamily="18" charset="0"/>
              </a:rPr>
              <a:t>, 2020.</a:t>
            </a:r>
          </a:p>
          <a:p>
            <a:pPr algn="just">
              <a:spcBef>
                <a:spcPct val="0"/>
              </a:spcBef>
              <a:tabLst>
                <a:tab pos="520700" algn="l"/>
              </a:tabLst>
              <a:defRPr/>
            </a:pPr>
            <a:endParaRPr lang="en-US" altLang="en-US" sz="2000" dirty="0">
              <a:latin typeface="Times New Roman" panose="02020603050405020304" pitchFamily="18" charset="0"/>
              <a:cs typeface="Times New Roman" panose="02020603050405020304" pitchFamily="18" charset="0"/>
            </a:endParaRPr>
          </a:p>
          <a:p>
            <a:pPr algn="just">
              <a:spcBef>
                <a:spcPct val="0"/>
              </a:spcBef>
              <a:tabLst>
                <a:tab pos="520700" algn="l"/>
              </a:tabLst>
              <a:defRPr/>
            </a:pP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8816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A564BDC-2D8F-7BE0-08E5-E2EEB3B694F7}"/>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9D3EEFB-FE2E-EC54-7EF3-00EF9229636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4635926-2264-BDEC-5EBE-12F37231A168}"/>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521BBA0-A8AA-9A5A-ECE6-68B713F3E8A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1F4A199-ADB4-E7AE-25D6-220D428FBDC9}"/>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2E650A8-5C60-0503-7CFA-7CA152651E4D}"/>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0F9A553C-8C23-BA57-A6C4-FB22848D9987}"/>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DB2C42FB-B7FF-D92F-FB9B-2A414DEA40A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EF148FA-4B04-2540-2D09-4ECE2861CB3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861A07B-B0AD-8C37-CC45-404D0DB97192}"/>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05546B70-D905-B922-E9BC-1331C018AA21}"/>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tabLst>
                <a:tab pos="520700" algn="l"/>
              </a:tabLst>
              <a:defRPr/>
            </a:pPr>
            <a:endParaRPr lang="en-US" sz="1800" b="1" dirty="0"/>
          </a:p>
          <a:p>
            <a:pPr marL="284163" indent="-284163" algn="ctr">
              <a:spcBef>
                <a:spcPct val="0"/>
              </a:spcBef>
              <a:tabLst>
                <a:tab pos="520700" algn="l"/>
              </a:tabLst>
              <a:defRPr/>
            </a:pPr>
            <a:r>
              <a:rPr lang="en-US" sz="1800" b="1" dirty="0"/>
              <a:t>Literature Survey Number -7</a:t>
            </a:r>
          </a:p>
          <a:p>
            <a:pPr marL="284163" indent="-284163">
              <a:spcBef>
                <a:spcPct val="0"/>
              </a:spcBef>
              <a:tabLst>
                <a:tab pos="520700" algn="l"/>
              </a:tabLst>
              <a:defRPr/>
            </a:pPr>
            <a:endParaRPr lang="en-US" b="1" dirty="0"/>
          </a:p>
          <a:p>
            <a:pPr>
              <a:lnSpc>
                <a:spcPct val="150000"/>
              </a:lnSpc>
            </a:pPr>
            <a:r>
              <a:rPr lang="en-US" sz="1600" dirty="0">
                <a:latin typeface="Times New Roman" panose="02020603050405020304" pitchFamily="18" charset="0"/>
                <a:cs typeface="Times New Roman" panose="02020603050405020304" pitchFamily="18" charset="0"/>
              </a:rPr>
              <a:t>Gopalakrishnan et al. (2017) proposed a deep learning-based pavement distress detection system using CNN models trained on road surface images to identify potholes and cracks.</a:t>
            </a:r>
          </a:p>
          <a:p>
            <a:pPr marL="284163" indent="-284163">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Achieves high detection accuracy using deep learning.</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Improves efficiency of pavement condition monitoring.</a:t>
            </a:r>
          </a:p>
          <a:p>
            <a:pPr marL="284163" indent="-284163">
              <a:lnSpc>
                <a:spcPct val="150000"/>
              </a:lnSpc>
              <a:spcBef>
                <a:spcPct val="0"/>
              </a:spcBef>
              <a:tabLst>
                <a:tab pos="520700" algn="l"/>
              </a:tabLst>
              <a:defRPr/>
            </a:pPr>
            <a:endParaRPr lang="en-US" sz="1600" b="1" dirty="0">
              <a:latin typeface="Times New Roman" panose="02020603050405020304" pitchFamily="18" charset="0"/>
              <a:cs typeface="Times New Roman" panose="02020603050405020304" pitchFamily="18" charset="0"/>
            </a:endParaRPr>
          </a:p>
          <a:p>
            <a:pPr marL="284163" indent="-284163">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Training requires large datasets and computational power.</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Performance may vary with environmental conditions.</a:t>
            </a:r>
          </a:p>
          <a:p>
            <a:pPr marL="285750" indent="-285750">
              <a:lnSpc>
                <a:spcPct val="150000"/>
              </a:lnSpc>
              <a:spcBef>
                <a:spcPct val="0"/>
              </a:spcBef>
              <a:buFont typeface="Arial" panose="020B0604020202020204" pitchFamily="34" charset="0"/>
              <a:buChar char="•"/>
              <a:tabLst>
                <a:tab pos="520700" algn="l"/>
              </a:tabLst>
              <a:defRPr/>
            </a:pPr>
            <a:endParaRPr lang="en-US" sz="1600" dirty="0">
              <a:latin typeface="Times New Roman" panose="02020603050405020304" pitchFamily="18" charset="0"/>
              <a:cs typeface="Times New Roman" panose="02020603050405020304" pitchFamily="18" charset="0"/>
            </a:endParaRPr>
          </a:p>
          <a:p>
            <a:pPr>
              <a:lnSpc>
                <a:spcPct val="150000"/>
              </a:lnSpc>
              <a:spcBef>
                <a:spcPct val="0"/>
              </a:spcBef>
              <a:tabLst>
                <a:tab pos="520700" algn="l"/>
              </a:tabLst>
              <a:defRPr/>
            </a:pPr>
            <a:r>
              <a:rPr lang="en-US" sz="1600" b="1" dirty="0">
                <a:latin typeface="Times New Roman" panose="02020603050405020304" pitchFamily="18" charset="0"/>
                <a:cs typeface="Times New Roman" panose="02020603050405020304" pitchFamily="18" charset="0"/>
              </a:rPr>
              <a:t>Reference:</a:t>
            </a:r>
            <a:r>
              <a:rPr lang="en-US" sz="1600" dirty="0">
                <a:latin typeface="Times New Roman" panose="02020603050405020304" pitchFamily="18" charset="0"/>
                <a:cs typeface="Times New Roman" panose="02020603050405020304" pitchFamily="18" charset="0"/>
              </a:rPr>
              <a:t> K. Gopalakrishnan et al., “Deep Learning-Based Pavement Distress Detection,” </a:t>
            </a:r>
            <a:r>
              <a:rPr lang="en-US" sz="1600" i="1" dirty="0">
                <a:latin typeface="Times New Roman" panose="02020603050405020304" pitchFamily="18" charset="0"/>
                <a:cs typeface="Times New Roman" panose="02020603050405020304" pitchFamily="18" charset="0"/>
              </a:rPr>
              <a:t>Transportation Research Board</a:t>
            </a:r>
            <a:r>
              <a:rPr lang="en-US" sz="1600" dirty="0">
                <a:latin typeface="Times New Roman" panose="02020603050405020304" pitchFamily="18" charset="0"/>
                <a:cs typeface="Times New Roman" panose="02020603050405020304" pitchFamily="18" charset="0"/>
              </a:rPr>
              <a:t>, 2017.</a:t>
            </a:r>
          </a:p>
          <a:p>
            <a:pPr marL="284163" indent="-284163">
              <a:spcBef>
                <a:spcPct val="0"/>
              </a:spcBef>
              <a:tabLst>
                <a:tab pos="520700" algn="l"/>
              </a:tabLst>
              <a:defRPr/>
            </a:pPr>
            <a:endParaRPr lang="en-US" b="1" dirty="0"/>
          </a:p>
          <a:p>
            <a:pPr marL="284163" indent="-284163">
              <a:spcBef>
                <a:spcPct val="0"/>
              </a:spcBef>
              <a:buFontTx/>
              <a:buNone/>
              <a:tabLst>
                <a:tab pos="520700" algn="l"/>
              </a:tabLst>
              <a:defRPr/>
            </a:pPr>
            <a:endParaRPr lang="en-US" dirty="0"/>
          </a:p>
          <a:p>
            <a:pPr marL="284163" indent="-284163">
              <a:spcBef>
                <a:spcPct val="0"/>
              </a:spcBef>
              <a:buFontTx/>
              <a:buNone/>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marL="284163" indent="-284163">
              <a:spcBef>
                <a:spcPct val="0"/>
              </a:spcBef>
              <a:buFontTx/>
              <a:buNone/>
              <a:tabLst>
                <a:tab pos="520700" algn="l"/>
              </a:tabLst>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EE82FDB-1AAA-5C17-6810-FD9BA03E231A}"/>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spTree>
    <p:extLst>
      <p:ext uri="{BB962C8B-B14F-4D97-AF65-F5344CB8AC3E}">
        <p14:creationId xmlns:p14="http://schemas.microsoft.com/office/powerpoint/2010/main" val="630108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A564BDC-2D8F-7BE0-08E5-E2EEB3B694F7}"/>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9D3EEFB-FE2E-EC54-7EF3-00EF9229636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4635926-2264-BDEC-5EBE-12F37231A168}"/>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521BBA0-A8AA-9A5A-ECE6-68B713F3E8A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1F4A199-ADB4-E7AE-25D6-220D428FBDC9}"/>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2E650A8-5C60-0503-7CFA-7CA152651E4D}"/>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0F9A553C-8C23-BA57-A6C4-FB22848D9987}"/>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DB2C42FB-B7FF-D92F-FB9B-2A414DEA40A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EF148FA-4B04-2540-2D09-4ECE2861CB3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861A07B-B0AD-8C37-CC45-404D0DB97192}"/>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05546B70-D905-B922-E9BC-1331C018AA21}"/>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Bef>
                <a:spcPct val="0"/>
              </a:spcBef>
              <a:tabLst>
                <a:tab pos="520700" algn="l"/>
              </a:tabLst>
              <a:defRPr/>
            </a:pPr>
            <a:endParaRPr lang="en-US" sz="1800" b="1" dirty="0"/>
          </a:p>
          <a:p>
            <a:pPr algn="ctr">
              <a:spcBef>
                <a:spcPct val="0"/>
              </a:spcBef>
              <a:tabLst>
                <a:tab pos="520700" algn="l"/>
              </a:tabLst>
              <a:defRPr/>
            </a:pPr>
            <a:r>
              <a:rPr lang="en-US" sz="1800" b="1" dirty="0"/>
              <a:t>Literature Survey Number -8</a:t>
            </a:r>
          </a:p>
          <a:p>
            <a:pPr>
              <a:spcBef>
                <a:spcPct val="0"/>
              </a:spcBef>
              <a:tabLst>
                <a:tab pos="520700" algn="l"/>
              </a:tabLst>
              <a:defRPr/>
            </a:pPr>
            <a:endParaRPr lang="en-US" b="1" dirty="0"/>
          </a:p>
          <a:p>
            <a:pPr>
              <a:lnSpc>
                <a:spcPct val="150000"/>
              </a:lnSpc>
            </a:pPr>
            <a:r>
              <a:rPr lang="en-US" sz="1600" dirty="0">
                <a:latin typeface="Times New Roman" panose="02020603050405020304" pitchFamily="18" charset="0"/>
                <a:cs typeface="Times New Roman" panose="02020603050405020304" pitchFamily="18" charset="0"/>
              </a:rPr>
              <a:t>Maeda et al. (2018) developed a road damage detection system using smartphone images and deep neural networks to detect different types of road damages including potholes.</a:t>
            </a:r>
          </a:p>
          <a:p>
            <a:pPr marL="284163" indent="-284163">
              <a:lnSpc>
                <a:spcPct val="150000"/>
              </a:lnSpc>
              <a:spcBef>
                <a:spcPct val="0"/>
              </a:spcBef>
              <a:buFontTx/>
              <a:buNone/>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Enables large-scale road monitoring using smartphones.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Provides a publicly available dataset for research.</a:t>
            </a:r>
          </a:p>
          <a:p>
            <a:pPr marL="285750" indent="-285750">
              <a:lnSpc>
                <a:spcPct val="150000"/>
              </a:lnSpc>
              <a:spcBef>
                <a:spcPct val="0"/>
              </a:spcBef>
              <a:buFont typeface="Arial" panose="020B0604020202020204" pitchFamily="34" charset="0"/>
              <a:buChar char="•"/>
              <a:tabLst>
                <a:tab pos="520700" algn="l"/>
              </a:tabLst>
              <a:defRPr/>
            </a:pPr>
            <a:endParaRPr lang="en-IN" altLang="en-US" sz="1600" dirty="0">
              <a:latin typeface="Times New Roman" panose="02020603050405020304" pitchFamily="18" charset="0"/>
              <a:cs typeface="Times New Roman" panose="02020603050405020304" pitchFamily="18" charset="0"/>
            </a:endParaRPr>
          </a:p>
          <a:p>
            <a:pPr marL="284163" indent="-284163">
              <a:lnSpc>
                <a:spcPct val="150000"/>
              </a:lnSpc>
              <a:spcBef>
                <a:spcPct val="0"/>
              </a:spcBef>
              <a:buFontTx/>
              <a:buNone/>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Detection accuracy may decrease in shadowed or unclear images.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Requires stable image capture for reliable detection.</a:t>
            </a:r>
          </a:p>
          <a:p>
            <a:pPr marL="284163" indent="-284163">
              <a:lnSpc>
                <a:spcPct val="150000"/>
              </a:lnSpc>
              <a:spcBef>
                <a:spcPct val="0"/>
              </a:spcBef>
              <a:buFontTx/>
              <a:buNone/>
              <a:tabLst>
                <a:tab pos="520700" algn="l"/>
              </a:tabLst>
              <a:defRPr/>
            </a:pPr>
            <a:endParaRPr lang="en-IN" altLang="en-US" sz="1600" dirty="0">
              <a:latin typeface="Times New Roman" panose="02020603050405020304" pitchFamily="18" charset="0"/>
              <a:cs typeface="Times New Roman" panose="02020603050405020304" pitchFamily="18" charset="0"/>
            </a:endParaRPr>
          </a:p>
          <a:p>
            <a:pPr marL="284163" indent="-284163">
              <a:lnSpc>
                <a:spcPct val="150000"/>
              </a:lnSpc>
              <a:spcBef>
                <a:spcPct val="0"/>
              </a:spcBef>
              <a:buFontTx/>
              <a:buNone/>
              <a:tabLst>
                <a:tab pos="520700" algn="l"/>
              </a:tabLst>
              <a:defRPr/>
            </a:pPr>
            <a:r>
              <a:rPr lang="en-US" sz="1600" b="1" dirty="0">
                <a:latin typeface="Times New Roman" panose="02020603050405020304" pitchFamily="18" charset="0"/>
                <a:cs typeface="Times New Roman" panose="02020603050405020304" pitchFamily="18" charset="0"/>
              </a:rPr>
              <a:t>Reference:</a:t>
            </a:r>
            <a:r>
              <a:rPr lang="en-US" sz="1600" dirty="0">
                <a:latin typeface="Times New Roman" panose="02020603050405020304" pitchFamily="18" charset="0"/>
                <a:cs typeface="Times New Roman" panose="02020603050405020304" pitchFamily="18" charset="0"/>
              </a:rPr>
              <a:t> K. Maeda et al., “Road Damage Detection Using Deep Neural Networks with Smartphone </a:t>
            </a:r>
          </a:p>
          <a:p>
            <a:pPr marL="284163" indent="-284163">
              <a:lnSpc>
                <a:spcPct val="150000"/>
              </a:lnSpc>
              <a:spcBef>
                <a:spcPct val="0"/>
              </a:spcBef>
              <a:buFontTx/>
              <a:buNone/>
              <a:tabLst>
                <a:tab pos="520700" algn="l"/>
              </a:tabLst>
              <a:defRPr/>
            </a:pPr>
            <a:r>
              <a:rPr lang="en-US" sz="1600" dirty="0">
                <a:latin typeface="Times New Roman" panose="02020603050405020304" pitchFamily="18" charset="0"/>
                <a:cs typeface="Times New Roman" panose="02020603050405020304" pitchFamily="18" charset="0"/>
              </a:rPr>
              <a:t>Images,” </a:t>
            </a:r>
            <a:r>
              <a:rPr lang="en-US" sz="1600" i="1" dirty="0">
                <a:latin typeface="Times New Roman" panose="02020603050405020304" pitchFamily="18" charset="0"/>
                <a:cs typeface="Times New Roman" panose="02020603050405020304" pitchFamily="18" charset="0"/>
              </a:rPr>
              <a:t>Computer-Aided Civil and Infrastructure Engineering</a:t>
            </a:r>
            <a:r>
              <a:rPr lang="en-US" sz="1600" dirty="0">
                <a:latin typeface="Times New Roman" panose="02020603050405020304" pitchFamily="18" charset="0"/>
                <a:cs typeface="Times New Roman" panose="02020603050405020304" pitchFamily="18" charset="0"/>
              </a:rPr>
              <a:t>, 2018.</a:t>
            </a:r>
            <a:endParaRPr lang="en-US" altLang="en-US" sz="1600" dirty="0">
              <a:latin typeface="Times New Roman" panose="02020603050405020304" pitchFamily="18" charset="0"/>
              <a:cs typeface="Times New Roman" panose="02020603050405020304" pitchFamily="18" charset="0"/>
            </a:endParaRPr>
          </a:p>
          <a:p>
            <a:pPr marL="284163" indent="-284163">
              <a:spcBef>
                <a:spcPct val="0"/>
              </a:spcBef>
              <a:buFontTx/>
              <a:buNone/>
              <a:tabLst>
                <a:tab pos="520700" algn="l"/>
              </a:tabLst>
              <a:defRPr/>
            </a:pPr>
            <a:endParaRPr lang="en-US" altLang="en-US" sz="1600" dirty="0">
              <a:latin typeface="Times New Roman" panose="02020603050405020304" pitchFamily="18" charset="0"/>
              <a:cs typeface="Times New Roman" panose="02020603050405020304" pitchFamily="18" charset="0"/>
            </a:endParaRPr>
          </a:p>
          <a:p>
            <a:pPr marL="284163" indent="-284163">
              <a:spcBef>
                <a:spcPct val="0"/>
              </a:spcBef>
              <a:buFontTx/>
              <a:buNone/>
              <a:tabLst>
                <a:tab pos="520700" algn="l"/>
              </a:tabLst>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EE82FDB-1AAA-5C17-6810-FD9BA03E231A}"/>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spTree>
    <p:extLst>
      <p:ext uri="{BB962C8B-B14F-4D97-AF65-F5344CB8AC3E}">
        <p14:creationId xmlns:p14="http://schemas.microsoft.com/office/powerpoint/2010/main" val="2032727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3FFA08C-B535-18FD-CF75-4CF857D4B37C}"/>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FBB3E7F-3120-5E21-A636-51BAF10ACE2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C03B969-2FD2-2D5C-8C23-AF910C7239D4}"/>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C3D5E2EE-D837-4AD5-234A-69A654AEE32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7E473C3-A202-2044-4B0C-09846C8F3C49}"/>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FD722A6-6E97-EAE2-E6D2-A14DF0DCBA4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E9AF4DA0-2FC0-3027-D25E-BA7361470865}"/>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D575E9D-34D1-9063-1E83-6861A8061AA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9073F065-8A35-FB76-0E07-9BE3AFB0268D}"/>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A904747A-EB4E-CC39-37B4-A70471442552}"/>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C8DCC442-2B85-6871-C4A2-F26DE47736F4}"/>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tabLst>
                <a:tab pos="520700" algn="l"/>
              </a:tabLst>
              <a:defRPr/>
            </a:pPr>
            <a:endParaRPr lang="en-US" sz="1800" b="1" dirty="0"/>
          </a:p>
          <a:p>
            <a:pPr marL="284163" indent="-284163" algn="ctr">
              <a:spcBef>
                <a:spcPct val="0"/>
              </a:spcBef>
              <a:tabLst>
                <a:tab pos="520700" algn="l"/>
              </a:tabLst>
              <a:defRPr/>
            </a:pPr>
            <a:r>
              <a:rPr lang="en-US" sz="1800" b="1" dirty="0"/>
              <a:t>Literature Survey Number -9</a:t>
            </a:r>
          </a:p>
          <a:p>
            <a:pPr marL="284163" indent="-284163">
              <a:spcBef>
                <a:spcPct val="0"/>
              </a:spcBef>
              <a:tabLst>
                <a:tab pos="520700" algn="l"/>
              </a:tabLst>
              <a:defRPr/>
            </a:pPr>
            <a:endParaRPr lang="en-US" b="1" dirty="0"/>
          </a:p>
          <a:p>
            <a:pPr>
              <a:lnSpc>
                <a:spcPct val="150000"/>
              </a:lnSpc>
            </a:pPr>
            <a:r>
              <a:rPr lang="en-US" sz="1600" dirty="0">
                <a:latin typeface="Times New Roman" panose="02020603050405020304" pitchFamily="18" charset="0"/>
                <a:cs typeface="Times New Roman" panose="02020603050405020304" pitchFamily="18" charset="0"/>
              </a:rPr>
              <a:t>Arya et al. (2020) proposed a pothole detection system using image processing and machine learning techniques to identify potholes from road surface images.</a:t>
            </a:r>
          </a:p>
          <a:p>
            <a:pPr marL="284163" indent="-284163">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Simple and cost-effective detection approach.</a:t>
            </a:r>
          </a:p>
          <a:p>
            <a:pPr marL="285750" indent="-285750">
              <a:lnSpc>
                <a:spcPct val="150000"/>
              </a:lnSpc>
              <a:spcBef>
                <a:spcPct val="0"/>
              </a:spcBef>
              <a:buFont typeface="Arial" panose="020B0604020202020204" pitchFamily="34" charset="0"/>
              <a:buChar char="•"/>
              <a:tabLst>
                <a:tab pos="520700" algn="l"/>
              </a:tabLst>
              <a:defRPr/>
            </a:pPr>
            <a:r>
              <a:rPr lang="en-IN" sz="1600" dirty="0">
                <a:latin typeface="Times New Roman" panose="02020603050405020304" pitchFamily="18" charset="0"/>
                <a:cs typeface="Times New Roman" panose="02020603050405020304" pitchFamily="18" charset="0"/>
              </a:rPr>
              <a:t>Reduces manual inspection workload.</a:t>
            </a:r>
          </a:p>
          <a:p>
            <a:pPr marL="284163" indent="-284163">
              <a:lnSpc>
                <a:spcPct val="150000"/>
              </a:lnSpc>
              <a:spcBef>
                <a:spcPct val="0"/>
              </a:spcBef>
              <a:tabLst>
                <a:tab pos="520700" algn="l"/>
              </a:tabLst>
              <a:defRPr/>
            </a:pPr>
            <a:endParaRPr lang="en-US" sz="1600" dirty="0">
              <a:latin typeface="Times New Roman" panose="02020603050405020304" pitchFamily="18" charset="0"/>
              <a:cs typeface="Times New Roman" panose="02020603050405020304" pitchFamily="18" charset="0"/>
            </a:endParaRPr>
          </a:p>
          <a:p>
            <a:pPr marL="284163" indent="-284163">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Limited accuracy compared to deep learning models.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Sensitive to variations in lighting and road texture.</a:t>
            </a:r>
          </a:p>
          <a:p>
            <a:pPr>
              <a:lnSpc>
                <a:spcPct val="150000"/>
              </a:lnSpc>
              <a:spcBef>
                <a:spcPct val="0"/>
              </a:spcBef>
              <a:tabLst>
                <a:tab pos="520700" algn="l"/>
              </a:tabLst>
              <a:defRPr/>
            </a:pPr>
            <a:endParaRPr lang="en-US" altLang="en-US" sz="1600" dirty="0">
              <a:latin typeface="Times New Roman" panose="02020603050405020304" pitchFamily="18" charset="0"/>
              <a:cs typeface="Times New Roman" panose="02020603050405020304" pitchFamily="18" charset="0"/>
            </a:endParaRPr>
          </a:p>
          <a:p>
            <a:pPr>
              <a:lnSpc>
                <a:spcPct val="150000"/>
              </a:lnSpc>
              <a:spcBef>
                <a:spcPct val="0"/>
              </a:spcBef>
              <a:tabLst>
                <a:tab pos="520700" algn="l"/>
              </a:tabLst>
              <a:defRPr/>
            </a:pPr>
            <a:r>
              <a:rPr lang="en-US" sz="1600" b="1" dirty="0">
                <a:latin typeface="Times New Roman" panose="02020603050405020304" pitchFamily="18" charset="0"/>
                <a:cs typeface="Times New Roman" panose="02020603050405020304" pitchFamily="18" charset="0"/>
              </a:rPr>
              <a:t>Reference:</a:t>
            </a:r>
            <a:r>
              <a:rPr lang="en-US" sz="1600" dirty="0">
                <a:latin typeface="Times New Roman" panose="02020603050405020304" pitchFamily="18" charset="0"/>
                <a:cs typeface="Times New Roman" panose="02020603050405020304" pitchFamily="18" charset="0"/>
              </a:rPr>
              <a:t> D. Arya et al., “Deep Learning-Based Road Damage Detection and Classification,” 2020.</a:t>
            </a:r>
          </a:p>
          <a:p>
            <a:pPr>
              <a:spcBef>
                <a:spcPct val="0"/>
              </a:spcBef>
              <a:tabLst>
                <a:tab pos="520700" algn="l"/>
              </a:tabLst>
              <a:defRPr/>
            </a:pPr>
            <a:endParaRPr lang="en-IN" altLang="en-US" sz="16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8A18608-5C84-1A4F-A3EB-F6F2330F6DE0}"/>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spTree>
    <p:extLst>
      <p:ext uri="{BB962C8B-B14F-4D97-AF65-F5344CB8AC3E}">
        <p14:creationId xmlns:p14="http://schemas.microsoft.com/office/powerpoint/2010/main" val="2562678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15675F4-581A-6EBD-6E23-DD21F81541E8}"/>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1D90921-C84E-5CD6-F745-5A238614A10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87CADB6-B3B0-222B-F14C-F739E0B4E12A}"/>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995960FE-277D-AED4-909D-F190163F827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A57CCB6-4E9D-236E-F6CA-FF1DF9C6942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3F1623B-BDD8-9809-417D-28C989774EF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DB04686-973F-6AF4-B584-ACB1DE6F878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7F2630AE-5FBB-9FF1-E6E9-2E9D713F2B71}"/>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51C5A5CF-04FF-5AFA-A04C-B0351C2A4B3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AAEAF312-26B9-516C-92A0-E8AC481C2603}"/>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1A704B53-65BE-204C-F2A2-B60C5E9CD55F}"/>
              </a:ext>
            </a:extLst>
          </p:cNvPr>
          <p:cNvSpPr txBox="1">
            <a:spLocks noChangeArrowheads="1"/>
          </p:cNvSpPr>
          <p:nvPr/>
        </p:nvSpPr>
        <p:spPr>
          <a:xfrm>
            <a:off x="91281" y="630238"/>
            <a:ext cx="8961438" cy="59309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spcBef>
                <a:spcPct val="0"/>
              </a:spcBef>
              <a:buFontTx/>
              <a:buNone/>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marL="284163" indent="-284163" algn="ctr">
              <a:spcBef>
                <a:spcPct val="0"/>
              </a:spcBef>
              <a:tabLst>
                <a:tab pos="520700" algn="l"/>
              </a:tabLst>
              <a:defRPr/>
            </a:pPr>
            <a:r>
              <a:rPr lang="en-US" sz="1800" b="1" dirty="0"/>
              <a:t>Literature Survey Number -10</a:t>
            </a:r>
          </a:p>
          <a:p>
            <a:pPr marL="284163" indent="-284163">
              <a:spcBef>
                <a:spcPct val="0"/>
              </a:spcBef>
              <a:tabLst>
                <a:tab pos="520700" algn="l"/>
              </a:tabLst>
              <a:defRPr/>
            </a:pPr>
            <a:endParaRPr lang="en-US" b="1" dirty="0"/>
          </a:p>
          <a:p>
            <a:pPr>
              <a:lnSpc>
                <a:spcPct val="150000"/>
              </a:lnSpc>
            </a:pPr>
            <a:r>
              <a:rPr lang="en-US" sz="1600" dirty="0">
                <a:latin typeface="Times New Roman" panose="02020603050405020304" pitchFamily="18" charset="0"/>
                <a:cs typeface="Times New Roman" panose="02020603050405020304" pitchFamily="18" charset="0"/>
              </a:rPr>
              <a:t>Silva and Jung (2021) introduced a road surface monitoring system using deep learning segmentation models to precisely locate pothole regions in pavement images.</a:t>
            </a:r>
          </a:p>
          <a:p>
            <a:pPr marL="284163" indent="-284163">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Merits:</a:t>
            </a:r>
          </a:p>
          <a:p>
            <a:pPr marL="285750" indent="-285750">
              <a:lnSpc>
                <a:spcPct val="150000"/>
              </a:lnSpc>
              <a:spcBef>
                <a:spcPct val="0"/>
              </a:spcBef>
              <a:buFont typeface="Arial" panose="020B0604020202020204" pitchFamily="34" charset="0"/>
              <a:buChar char="•"/>
              <a:tabLst>
                <a:tab pos="520700" algn="l"/>
              </a:tabLst>
              <a:defRPr/>
            </a:pPr>
            <a:r>
              <a:rPr lang="en-US" sz="1600" dirty="0">
                <a:solidFill>
                  <a:schemeClr val="tx1"/>
                </a:solidFill>
                <a:latin typeface="Times New Roman" panose="02020603050405020304" pitchFamily="18" charset="0"/>
                <a:cs typeface="Times New Roman" panose="02020603050405020304" pitchFamily="18" charset="0"/>
              </a:rPr>
              <a:t>Provides accurate segmentation of pothole areas.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Helps in detailed pavement damage analysis.</a:t>
            </a:r>
          </a:p>
          <a:p>
            <a:pPr marL="284163" indent="-284163">
              <a:lnSpc>
                <a:spcPct val="150000"/>
              </a:lnSpc>
              <a:spcBef>
                <a:spcPct val="0"/>
              </a:spcBef>
              <a:tabLst>
                <a:tab pos="520700" algn="l"/>
              </a:tabLst>
              <a:defRPr/>
            </a:pPr>
            <a:endParaRPr lang="en-US" sz="1600" b="1" dirty="0">
              <a:latin typeface="Times New Roman" panose="02020603050405020304" pitchFamily="18" charset="0"/>
              <a:cs typeface="Times New Roman" panose="02020603050405020304" pitchFamily="18" charset="0"/>
            </a:endParaRPr>
          </a:p>
          <a:p>
            <a:pPr marL="284163" indent="-284163">
              <a:lnSpc>
                <a:spcPct val="150000"/>
              </a:lnSpc>
              <a:spcBef>
                <a:spcPct val="0"/>
              </a:spcBef>
              <a:tabLst>
                <a:tab pos="520700" algn="l"/>
              </a:tabLst>
              <a:defRPr/>
            </a:pPr>
            <a:r>
              <a:rPr lang="en-IN" sz="1600" b="1" dirty="0">
                <a:solidFill>
                  <a:srgbClr val="FF0000"/>
                </a:solidFill>
                <a:latin typeface="Times New Roman" panose="02020603050405020304" pitchFamily="18" charset="0"/>
                <a:cs typeface="Times New Roman" panose="02020603050405020304" pitchFamily="18" charset="0"/>
              </a:rPr>
              <a:t>Demerits: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Segmentation models require high computational resources.</a:t>
            </a:r>
          </a:p>
          <a:p>
            <a:pPr marL="285750" indent="-285750">
              <a:lnSpc>
                <a:spcPct val="150000"/>
              </a:lnSpc>
              <a:spcBef>
                <a:spcPct val="0"/>
              </a:spcBef>
              <a:buFont typeface="Arial" panose="020B0604020202020204" pitchFamily="34" charset="0"/>
              <a:buChar char="•"/>
              <a:tabLst>
                <a:tab pos="520700" algn="l"/>
              </a:tabLst>
              <a:defRPr/>
            </a:pPr>
            <a:r>
              <a:rPr lang="en-US" sz="1600" dirty="0">
                <a:latin typeface="Times New Roman" panose="02020603050405020304" pitchFamily="18" charset="0"/>
                <a:cs typeface="Times New Roman" panose="02020603050405020304" pitchFamily="18" charset="0"/>
              </a:rPr>
              <a:t>Training complexity is higher compared to simple detection models.</a:t>
            </a:r>
          </a:p>
          <a:p>
            <a:pPr marL="285750" indent="-285750">
              <a:lnSpc>
                <a:spcPct val="150000"/>
              </a:lnSpc>
              <a:spcBef>
                <a:spcPct val="0"/>
              </a:spcBef>
              <a:buFont typeface="Arial" panose="020B0604020202020204" pitchFamily="34" charset="0"/>
              <a:buChar char="•"/>
              <a:tabLst>
                <a:tab pos="520700" algn="l"/>
              </a:tabLst>
              <a:defRPr/>
            </a:pPr>
            <a:endParaRPr lang="en-US" sz="1600" dirty="0">
              <a:latin typeface="Times New Roman" panose="02020603050405020304" pitchFamily="18" charset="0"/>
              <a:cs typeface="Times New Roman" panose="02020603050405020304" pitchFamily="18" charset="0"/>
            </a:endParaRPr>
          </a:p>
          <a:p>
            <a:pPr>
              <a:lnSpc>
                <a:spcPct val="150000"/>
              </a:lnSpc>
              <a:spcBef>
                <a:spcPct val="0"/>
              </a:spcBef>
              <a:tabLst>
                <a:tab pos="520700" algn="l"/>
              </a:tabLst>
              <a:defRPr/>
            </a:pPr>
            <a:r>
              <a:rPr lang="en-US" sz="1600" b="1" dirty="0">
                <a:latin typeface="Times New Roman" panose="02020603050405020304" pitchFamily="18" charset="0"/>
                <a:cs typeface="Times New Roman" panose="02020603050405020304" pitchFamily="18" charset="0"/>
              </a:rPr>
              <a:t>Reference:</a:t>
            </a:r>
            <a:r>
              <a:rPr lang="en-US" sz="1600" dirty="0">
                <a:latin typeface="Times New Roman" panose="02020603050405020304" pitchFamily="18" charset="0"/>
                <a:cs typeface="Times New Roman" panose="02020603050405020304" pitchFamily="18" charset="0"/>
              </a:rPr>
              <a:t> S. Silva and C. Jung, “Real-Time Road Surface Monitoring Using Deep Learning Segmentation,” 2021.</a:t>
            </a: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381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graphicFrame>
        <p:nvGraphicFramePr>
          <p:cNvPr id="2" name="Table 1">
            <a:extLst>
              <a:ext uri="{FF2B5EF4-FFF2-40B4-BE49-F238E27FC236}">
                <a16:creationId xmlns:a16="http://schemas.microsoft.com/office/drawing/2014/main" id="{0446ADFE-F3F8-6CE9-2121-513F9912AEC6}"/>
              </a:ext>
            </a:extLst>
          </p:cNvPr>
          <p:cNvGraphicFramePr>
            <a:graphicFrameLocks noGrp="1"/>
          </p:cNvGraphicFramePr>
          <p:nvPr>
            <p:extLst>
              <p:ext uri="{D42A27DB-BD31-4B8C-83A1-F6EECF244321}">
                <p14:modId xmlns:p14="http://schemas.microsoft.com/office/powerpoint/2010/main" val="2549175804"/>
              </p:ext>
            </p:extLst>
          </p:nvPr>
        </p:nvGraphicFramePr>
        <p:xfrm>
          <a:off x="395889" y="1991548"/>
          <a:ext cx="8638383" cy="3986213"/>
        </p:xfrm>
        <a:graphic>
          <a:graphicData uri="http://schemas.openxmlformats.org/drawingml/2006/table">
            <a:tbl>
              <a:tblPr firstRow="1" bandRow="1">
                <a:tableStyleId>{ED083AE6-46FA-4A59-8FB0-9F97EB10719F}</a:tableStyleId>
              </a:tblPr>
              <a:tblGrid>
                <a:gridCol w="520230">
                  <a:extLst>
                    <a:ext uri="{9D8B030D-6E8A-4147-A177-3AD203B41FA5}">
                      <a16:colId xmlns:a16="http://schemas.microsoft.com/office/drawing/2014/main" val="20000"/>
                    </a:ext>
                  </a:extLst>
                </a:gridCol>
                <a:gridCol w="2891092">
                  <a:extLst>
                    <a:ext uri="{9D8B030D-6E8A-4147-A177-3AD203B41FA5}">
                      <a16:colId xmlns:a16="http://schemas.microsoft.com/office/drawing/2014/main" val="20001"/>
                    </a:ext>
                  </a:extLst>
                </a:gridCol>
                <a:gridCol w="3020142">
                  <a:extLst>
                    <a:ext uri="{9D8B030D-6E8A-4147-A177-3AD203B41FA5}">
                      <a16:colId xmlns:a16="http://schemas.microsoft.com/office/drawing/2014/main" val="20002"/>
                    </a:ext>
                  </a:extLst>
                </a:gridCol>
                <a:gridCol w="2206919">
                  <a:extLst>
                    <a:ext uri="{9D8B030D-6E8A-4147-A177-3AD203B41FA5}">
                      <a16:colId xmlns:a16="http://schemas.microsoft.com/office/drawing/2014/main" val="20003"/>
                    </a:ext>
                  </a:extLst>
                </a:gridCol>
              </a:tblGrid>
              <a:tr h="694373">
                <a:tc>
                  <a:txBody>
                    <a:bodyPr/>
                    <a:lstStyle/>
                    <a:p>
                      <a:pPr>
                        <a:buNone/>
                      </a:pPr>
                      <a:r>
                        <a:rPr lang="en-IN" sz="1600">
                          <a:latin typeface="Times New Roman" panose="02020603050405020304" pitchFamily="18" charset="0"/>
                          <a:cs typeface="Times New Roman" panose="02020603050405020304" pitchFamily="18" charset="0"/>
                        </a:rPr>
                        <a:t>S. No.</a:t>
                      </a:r>
                    </a:p>
                  </a:txBody>
                  <a:tcPr anchor="ctr"/>
                </a:tc>
                <a:tc>
                  <a:txBody>
                    <a:bodyPr/>
                    <a:lstStyle/>
                    <a:p>
                      <a:pPr>
                        <a:buNone/>
                      </a:pPr>
                      <a:r>
                        <a:rPr lang="en-IN" sz="1600">
                          <a:latin typeface="Times New Roman" panose="02020603050405020304" pitchFamily="18" charset="0"/>
                          <a:cs typeface="Times New Roman" panose="02020603050405020304" pitchFamily="18" charset="0"/>
                        </a:rPr>
                        <a:t>Author(s) &amp; Year</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Methodology used</a:t>
                      </a:r>
                    </a:p>
                  </a:txBody>
                  <a:tcPr anchor="ctr"/>
                </a:tc>
                <a:tc>
                  <a:txBody>
                    <a:bodyPr/>
                    <a:lstStyle/>
                    <a:p>
                      <a:pPr>
                        <a:buNone/>
                      </a:pPr>
                      <a:r>
                        <a:rPr lang="en-IN" sz="1600">
                          <a:latin typeface="Times New Roman" panose="02020603050405020304" pitchFamily="18" charset="0"/>
                          <a:cs typeface="Times New Roman" panose="02020603050405020304" pitchFamily="18" charset="0"/>
                        </a:rPr>
                        <a:t>Limitations</a:t>
                      </a:r>
                    </a:p>
                  </a:txBody>
                  <a:tcPr anchor="ctr"/>
                </a:tc>
                <a:extLst>
                  <a:ext uri="{0D108BD9-81ED-4DB2-BD59-A6C34878D82A}">
                    <a16:rowId xmlns:a16="http://schemas.microsoft.com/office/drawing/2014/main" val="10000"/>
                  </a:ext>
                </a:extLst>
              </a:tr>
              <a:tr h="694373">
                <a:tc>
                  <a:txBody>
                    <a:bodyPr/>
                    <a:lstStyle/>
                    <a:p>
                      <a:pPr>
                        <a:buNone/>
                      </a:pPr>
                      <a:r>
                        <a:rPr lang="en-IN" sz="1600" b="1"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Gadekar et al. (2024)</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Sonar-assisted YOLO Model</a:t>
                      </a:r>
                      <a:r>
                        <a:rPr lang="en-US" sz="1600"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Sonar integration adds sensor complexity and calibration needs.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694373">
                <a:tc>
                  <a:txBody>
                    <a:bodyPr/>
                    <a:lstStyle/>
                    <a:p>
                      <a:pPr>
                        <a:buNone/>
                      </a:pPr>
                      <a:r>
                        <a:rPr lang="en-IN" sz="1600" b="1" dirty="0">
                          <a:latin typeface="Times New Roman" panose="02020603050405020304" pitchFamily="18" charset="0"/>
                          <a:cs typeface="Times New Roman" panose="02020603050405020304" pitchFamily="18" charset="0"/>
                        </a:rPr>
                        <a:t>2</a:t>
                      </a:r>
                    </a:p>
                  </a:txBody>
                  <a:tcPr anchor="ctr"/>
                </a:tc>
                <a:tc>
                  <a:txBody>
                    <a:bodyPr/>
                    <a:lstStyle/>
                    <a:p>
                      <a:pPr>
                        <a:buNone/>
                      </a:pPr>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Lakshminarayanan et al. (2024)</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CNN + IoT-based Cloud Reporting</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Latency issues in regions with poor network connectivity.</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694373">
                <a:tc>
                  <a:txBody>
                    <a:bodyPr/>
                    <a:lstStyle/>
                    <a:p>
                      <a:pPr>
                        <a:buNone/>
                      </a:pPr>
                      <a:r>
                        <a:rPr lang="en-IN" sz="1600" b="1" dirty="0">
                          <a:latin typeface="Times New Roman" panose="02020603050405020304" pitchFamily="18" charset="0"/>
                          <a:cs typeface="Times New Roman" panose="02020603050405020304" pitchFamily="18" charset="0"/>
                        </a:rPr>
                        <a:t>3</a:t>
                      </a:r>
                    </a:p>
                  </a:txBody>
                  <a:tcPr anchor="ctr"/>
                </a:tc>
                <a:tc>
                  <a:txBody>
                    <a:bodyPr/>
                    <a:lstStyle/>
                    <a:p>
                      <a:pPr>
                        <a:buNone/>
                      </a:pPr>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Khan et al. (2024)</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YOLOv8-based Pipeline</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Struggles with "false potholes" caused by complex road shadows</a:t>
                      </a:r>
                      <a:r>
                        <a:rPr lang="en-US" sz="1600" dirty="0">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0003"/>
                  </a:ext>
                </a:extLst>
              </a:tr>
              <a:tr h="694373">
                <a:tc>
                  <a:txBody>
                    <a:bodyPr/>
                    <a:lstStyle/>
                    <a:p>
                      <a:pPr>
                        <a:buNone/>
                      </a:pPr>
                      <a:r>
                        <a:rPr lang="en-IN" sz="1600" b="1">
                          <a:latin typeface="Times New Roman" panose="02020603050405020304" pitchFamily="18" charset="0"/>
                          <a:cs typeface="Times New Roman" panose="02020603050405020304" pitchFamily="18" charset="0"/>
                        </a:rPr>
                        <a:t>4</a:t>
                      </a:r>
                    </a:p>
                  </a:txBody>
                  <a:tcPr anchor="ctr"/>
                </a:tc>
                <a:tc>
                  <a:txBody>
                    <a:bodyPr/>
                    <a:lstStyle/>
                    <a:p>
                      <a:pPr>
                        <a:buNone/>
                      </a:pPr>
                      <a:r>
                        <a:rPr lang="en-IN" sz="1600" b="1" i="0" u="none" strike="noStrike" cap="none" dirty="0" err="1">
                          <a:solidFill>
                            <a:schemeClr val="tx1"/>
                          </a:solidFill>
                          <a:effectLst/>
                          <a:latin typeface="Times New Roman" panose="02020603050405020304" pitchFamily="18" charset="0"/>
                          <a:ea typeface="+mn-ea"/>
                          <a:cs typeface="Times New Roman" panose="02020603050405020304" pitchFamily="18" charset="0"/>
                          <a:sym typeface="Arial"/>
                        </a:rPr>
                        <a:t>Zanevych</a:t>
                      </a:r>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et al. (2024)</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YOLOv7 &amp; YOLOv8 (Low-light)</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Still faces significant accuracy drops in complete darkness.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18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4" name="Google Shape;142;p2">
            <a:extLst>
              <a:ext uri="{FF2B5EF4-FFF2-40B4-BE49-F238E27FC236}">
                <a16:creationId xmlns:a16="http://schemas.microsoft.com/office/drawing/2014/main" id="{66515FFF-F202-937A-98FD-CF20DD5B0B95}"/>
              </a:ext>
            </a:extLst>
          </p:cNvPr>
          <p:cNvSpPr txBox="1"/>
          <p:nvPr/>
        </p:nvSpPr>
        <p:spPr>
          <a:xfrm>
            <a:off x="1812288" y="599406"/>
            <a:ext cx="4022225"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           Literature Survey </a:t>
            </a:r>
            <a:endParaRPr lang="en-US" sz="2800" b="1" i="0" u="none" strike="noStrike" cap="none" dirty="0">
              <a:solidFill>
                <a:schemeClr val="tx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268589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14A43FE-4A42-90CE-24B9-C82D660879AE}"/>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9F4DC52E-CC39-9ED9-DC14-CD9F6524C390}"/>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25F04549-AEBE-34AA-B90B-2CD42D9F734C}"/>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B9E607FB-8C5D-0B13-0AFD-C25ABBA4C04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B79B634B-207E-993B-F062-FBB44021AF27}"/>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839C7A2-A82B-70CA-ED36-5190C257248D}"/>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F6C3AC3-CB2B-BC59-2657-FDE78C4FE0B0}"/>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C8C5DEF3-952E-C740-2505-18E7ACD6348B}"/>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3E597414-4AFF-C773-3102-50C295D1C026}"/>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graphicFrame>
        <p:nvGraphicFramePr>
          <p:cNvPr id="2" name="Table 1">
            <a:extLst>
              <a:ext uri="{FF2B5EF4-FFF2-40B4-BE49-F238E27FC236}">
                <a16:creationId xmlns:a16="http://schemas.microsoft.com/office/drawing/2014/main" id="{9248E5C9-5716-D336-81B1-FB9EC852B6F7}"/>
              </a:ext>
            </a:extLst>
          </p:cNvPr>
          <p:cNvGraphicFramePr>
            <a:graphicFrameLocks noGrp="1"/>
          </p:cNvGraphicFramePr>
          <p:nvPr>
            <p:extLst>
              <p:ext uri="{D42A27DB-BD31-4B8C-83A1-F6EECF244321}">
                <p14:modId xmlns:p14="http://schemas.microsoft.com/office/powerpoint/2010/main" val="2256588573"/>
              </p:ext>
            </p:extLst>
          </p:nvPr>
        </p:nvGraphicFramePr>
        <p:xfrm>
          <a:off x="395889" y="1287280"/>
          <a:ext cx="8352223" cy="4538049"/>
        </p:xfrm>
        <a:graphic>
          <a:graphicData uri="http://schemas.openxmlformats.org/drawingml/2006/table">
            <a:tbl>
              <a:tblPr firstRow="1" bandRow="1">
                <a:tableStyleId>{ED083AE6-46FA-4A59-8FB0-9F97EB10719F}</a:tableStyleId>
              </a:tblPr>
              <a:tblGrid>
                <a:gridCol w="530242">
                  <a:extLst>
                    <a:ext uri="{9D8B030D-6E8A-4147-A177-3AD203B41FA5}">
                      <a16:colId xmlns:a16="http://schemas.microsoft.com/office/drawing/2014/main" val="20000"/>
                    </a:ext>
                  </a:extLst>
                </a:gridCol>
                <a:gridCol w="2494324">
                  <a:extLst>
                    <a:ext uri="{9D8B030D-6E8A-4147-A177-3AD203B41FA5}">
                      <a16:colId xmlns:a16="http://schemas.microsoft.com/office/drawing/2014/main" val="20001"/>
                    </a:ext>
                  </a:extLst>
                </a:gridCol>
                <a:gridCol w="3078265">
                  <a:extLst>
                    <a:ext uri="{9D8B030D-6E8A-4147-A177-3AD203B41FA5}">
                      <a16:colId xmlns:a16="http://schemas.microsoft.com/office/drawing/2014/main" val="20002"/>
                    </a:ext>
                  </a:extLst>
                </a:gridCol>
                <a:gridCol w="2249392">
                  <a:extLst>
                    <a:ext uri="{9D8B030D-6E8A-4147-A177-3AD203B41FA5}">
                      <a16:colId xmlns:a16="http://schemas.microsoft.com/office/drawing/2014/main" val="20003"/>
                    </a:ext>
                  </a:extLst>
                </a:gridCol>
              </a:tblGrid>
              <a:tr h="821930">
                <a:tc>
                  <a:txBody>
                    <a:bodyPr/>
                    <a:lstStyle/>
                    <a:p>
                      <a:pPr algn="ct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600" dirty="0">
                          <a:latin typeface="Times New Roman" panose="02020603050405020304" pitchFamily="18" charset="0"/>
                          <a:cs typeface="Times New Roman" panose="02020603050405020304" pitchFamily="18" charset="0"/>
                        </a:rPr>
                        <a:t>Author(s) &amp; Year</a:t>
                      </a:r>
                    </a:p>
                    <a:p>
                      <a:pPr algn="ctr"/>
                      <a:endParaRPr lang="en-IN" sz="1600" b="0" i="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600" dirty="0">
                          <a:latin typeface="Times New Roman" panose="02020603050405020304" pitchFamily="18" charset="0"/>
                          <a:cs typeface="Times New Roman" panose="02020603050405020304" pitchFamily="18" charset="0"/>
                        </a:rPr>
                        <a:t>Methodology</a:t>
                      </a:r>
                      <a:r>
                        <a:rPr lang="en-IN" sz="1600" baseline="0" dirty="0">
                          <a:latin typeface="Times New Roman" panose="02020603050405020304" pitchFamily="18" charset="0"/>
                          <a:cs typeface="Times New Roman" panose="02020603050405020304" pitchFamily="18" charset="0"/>
                        </a:rPr>
                        <a:t> used</a:t>
                      </a:r>
                      <a:endParaRPr lang="en-IN" sz="16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6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865891">
                <a:tc>
                  <a:txBody>
                    <a:bodyPr/>
                    <a:lstStyle/>
                    <a:p>
                      <a:r>
                        <a:rPr lang="en-IN" sz="1600" b="1" dirty="0">
                          <a:latin typeface="Times New Roman" panose="02020603050405020304" pitchFamily="18" charset="0"/>
                          <a:cs typeface="Times New Roman" panose="02020603050405020304" pitchFamily="18" charset="0"/>
                        </a:rPr>
                        <a:t>5</a:t>
                      </a:r>
                    </a:p>
                  </a:txBody>
                  <a:tcPr marL="91447" marR="91447" marT="45716" marB="45716"/>
                </a:tc>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Reddy et al. (2024)</a:t>
                      </a:r>
                      <a:endParaRPr lang="en-IN" sz="1600" b="1"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Custom Deep Learning Model.</a:t>
                      </a:r>
                      <a:endParaRPr lang="en-IN" sz="16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Model optimization for mobile edge devices remains a challenge.</a:t>
                      </a:r>
                      <a:endParaRPr lang="en-IN" sz="16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865891">
                <a:tc>
                  <a:txBody>
                    <a:bodyPr/>
                    <a:lstStyle/>
                    <a:p>
                      <a:r>
                        <a:rPr lang="en-IN" sz="1600" b="1" dirty="0">
                          <a:latin typeface="Times New Roman" panose="02020603050405020304" pitchFamily="18" charset="0"/>
                          <a:cs typeface="Times New Roman" panose="02020603050405020304" pitchFamily="18" charset="0"/>
                        </a:rPr>
                        <a:t>6</a:t>
                      </a:r>
                    </a:p>
                  </a:txBody>
                  <a:tcPr marL="91447" marR="91447" marT="45716" marB="45716"/>
                </a:tc>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Vinodhini et al. (2024)</a:t>
                      </a:r>
                      <a:endParaRPr lang="en-IN" sz="1600" b="1"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Transfer Learning + CNN</a:t>
                      </a:r>
                      <a:endParaRPr lang="en-IN" sz="16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Requires a massive and diverse dataset for generalizability.</a:t>
                      </a:r>
                      <a:endParaRPr lang="en-IN" sz="16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865891">
                <a:tc>
                  <a:txBody>
                    <a:bodyPr/>
                    <a:lstStyle/>
                    <a:p>
                      <a:r>
                        <a:rPr lang="en-IN" sz="1600" b="1" dirty="0">
                          <a:latin typeface="Times New Roman" panose="02020603050405020304" pitchFamily="18" charset="0"/>
                          <a:cs typeface="Times New Roman" panose="02020603050405020304" pitchFamily="18" charset="0"/>
                        </a:rPr>
                        <a:t>7</a:t>
                      </a:r>
                    </a:p>
                  </a:txBody>
                  <a:tcPr marL="91447" marR="91447" marT="45716" marB="45716"/>
                </a:tc>
                <a:tc>
                  <a:txBody>
                    <a:bodyPr/>
                    <a:lstStyle/>
                    <a:p>
                      <a:r>
                        <a:rPr lang="en-IN" sz="1600" b="1" i="0" u="none" strike="noStrike" cap="none" dirty="0" err="1">
                          <a:solidFill>
                            <a:schemeClr val="tx1"/>
                          </a:solidFill>
                          <a:effectLst/>
                          <a:latin typeface="Times New Roman" panose="02020603050405020304" pitchFamily="18" charset="0"/>
                          <a:ea typeface="+mn-ea"/>
                          <a:cs typeface="Times New Roman" panose="02020603050405020304" pitchFamily="18" charset="0"/>
                          <a:sym typeface="Arial"/>
                        </a:rPr>
                        <a:t>Safyari</a:t>
                      </a:r>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et al. (2024)</a:t>
                      </a:r>
                      <a:endParaRPr lang="en-IN" sz="1600" b="1"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Comprehensive YOLO Review</a:t>
                      </a:r>
                      <a:endParaRPr lang="en-IN" sz="16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Existing models still struggle with varying road textures.</a:t>
                      </a:r>
                      <a:endParaRPr lang="en-IN" sz="16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3"/>
                  </a:ext>
                </a:extLst>
              </a:tr>
              <a:tr h="1118446">
                <a:tc>
                  <a:txBody>
                    <a:bodyPr/>
                    <a:lstStyle/>
                    <a:p>
                      <a:r>
                        <a:rPr lang="en-IN" sz="1600" b="1" dirty="0">
                          <a:latin typeface="Times New Roman" panose="02020603050405020304" pitchFamily="18" charset="0"/>
                          <a:cs typeface="Times New Roman" panose="02020603050405020304" pitchFamily="18" charset="0"/>
                        </a:rPr>
                        <a:t>8</a:t>
                      </a:r>
                    </a:p>
                  </a:txBody>
                  <a:tcPr marL="91447" marR="91447" marT="45716" marB="45716"/>
                </a:tc>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Yao et al. (2025)</a:t>
                      </a:r>
                      <a:endParaRPr lang="en-IN" sz="1600" b="1"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Binocular Vision + Deep Learning</a:t>
                      </a:r>
                      <a:endParaRPr lang="en-IN" sz="16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High hardware cost compared to monocular camera systems.</a:t>
                      </a:r>
                      <a:endParaRPr lang="en-IN" sz="16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01AF76DA-96DE-E6BE-6B14-0CC5EBD8AF63}"/>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1600" b="1"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6832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0E8A39A7-5737-FFF6-0B09-7ADE0DBC477D}"/>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166998F9-7BAC-A9EB-7548-20B6EE6EE968}"/>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47181BCA-50BF-DBBE-8491-7748641FE41C}"/>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E1AD578-695D-A89A-BBC4-78C6B31A284F}"/>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93EC13C-E444-6478-C6DF-A9E938EB046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F48728A-C7C7-B5CF-D6B9-0F7927A519F7}"/>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5B46D26-2C8C-20A5-5044-3F23F7778DE1}"/>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8235EDC-56F5-6A5C-3AD7-614816355080}"/>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754BB3A-AA7B-3EF9-D17A-938879322A5A}"/>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3" name="Content Placeholder 4">
            <a:extLst>
              <a:ext uri="{FF2B5EF4-FFF2-40B4-BE49-F238E27FC236}">
                <a16:creationId xmlns:a16="http://schemas.microsoft.com/office/drawing/2014/main" id="{967A04A7-7A8D-C5D7-0E8B-A08C9A76BD41}"/>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01FB6169-BD0F-EEA1-5082-CCF5CFB164B4}"/>
              </a:ext>
            </a:extLst>
          </p:cNvPr>
          <p:cNvGraphicFramePr>
            <a:graphicFrameLocks noGrp="1"/>
          </p:cNvGraphicFramePr>
          <p:nvPr>
            <p:extLst>
              <p:ext uri="{D42A27DB-BD31-4B8C-83A1-F6EECF244321}">
                <p14:modId xmlns:p14="http://schemas.microsoft.com/office/powerpoint/2010/main" val="2604442832"/>
              </p:ext>
            </p:extLst>
          </p:nvPr>
        </p:nvGraphicFramePr>
        <p:xfrm>
          <a:off x="429768" y="1074738"/>
          <a:ext cx="8238744" cy="2959390"/>
        </p:xfrm>
        <a:graphic>
          <a:graphicData uri="http://schemas.openxmlformats.org/drawingml/2006/table">
            <a:tbl>
              <a:tblPr firstRow="1" bandRow="1">
                <a:tableStyleId>{ED083AE6-46FA-4A59-8FB0-9F97EB10719F}</a:tableStyleId>
              </a:tblPr>
              <a:tblGrid>
                <a:gridCol w="530352">
                  <a:extLst>
                    <a:ext uri="{9D8B030D-6E8A-4147-A177-3AD203B41FA5}">
                      <a16:colId xmlns:a16="http://schemas.microsoft.com/office/drawing/2014/main" val="3729230148"/>
                    </a:ext>
                  </a:extLst>
                </a:gridCol>
                <a:gridCol w="3589020">
                  <a:extLst>
                    <a:ext uri="{9D8B030D-6E8A-4147-A177-3AD203B41FA5}">
                      <a16:colId xmlns:a16="http://schemas.microsoft.com/office/drawing/2014/main" val="3487508850"/>
                    </a:ext>
                  </a:extLst>
                </a:gridCol>
                <a:gridCol w="2059686">
                  <a:extLst>
                    <a:ext uri="{9D8B030D-6E8A-4147-A177-3AD203B41FA5}">
                      <a16:colId xmlns:a16="http://schemas.microsoft.com/office/drawing/2014/main" val="1186303875"/>
                    </a:ext>
                  </a:extLst>
                </a:gridCol>
                <a:gridCol w="2059686">
                  <a:extLst>
                    <a:ext uri="{9D8B030D-6E8A-4147-A177-3AD203B41FA5}">
                      <a16:colId xmlns:a16="http://schemas.microsoft.com/office/drawing/2014/main" val="4194151182"/>
                    </a:ext>
                  </a:extLst>
                </a:gridCol>
              </a:tblGrid>
              <a:tr h="65471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Author(s)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Methodology</a:t>
                      </a:r>
                      <a:r>
                        <a:rPr lang="en-IN" sz="1600" baseline="0" dirty="0">
                          <a:latin typeface="Times New Roman" panose="02020603050405020304" pitchFamily="18" charset="0"/>
                          <a:cs typeface="Times New Roman" panose="02020603050405020304" pitchFamily="18" charset="0"/>
                        </a:rPr>
                        <a:t> used</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Limitations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37338069"/>
                  </a:ext>
                </a:extLst>
              </a:tr>
              <a:tr h="1068215">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9</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IN" sz="1600" b="1" i="0" u="none" strike="noStrike" cap="none" dirty="0" err="1">
                          <a:solidFill>
                            <a:schemeClr val="tx1"/>
                          </a:solidFill>
                          <a:effectLst/>
                          <a:latin typeface="Times New Roman" panose="02020603050405020304" pitchFamily="18" charset="0"/>
                          <a:ea typeface="+mn-ea"/>
                          <a:cs typeface="Times New Roman" panose="02020603050405020304" pitchFamily="18" charset="0"/>
                          <a:sym typeface="Arial"/>
                        </a:rPr>
                        <a:t>Boosam</a:t>
                      </a:r>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 et al. (2025)</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Comparative study: YOLOv1 to YOLOv5 vs. SSD</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High dependence on high-quality annotated training data.</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46082345"/>
                  </a:ext>
                </a:extLst>
              </a:tr>
              <a:tr h="1068215">
                <a:tc>
                  <a:txBody>
                    <a:bodyPr/>
                    <a:lstStyle/>
                    <a:p>
                      <a:r>
                        <a:rPr lang="en-IN" sz="1600" b="1" dirty="0">
                          <a:latin typeface="Times New Roman" panose="02020603050405020304" pitchFamily="18" charset="0"/>
                          <a:cs typeface="Times New Roman" panose="02020603050405020304" pitchFamily="18" charset="0"/>
                        </a:rPr>
                        <a:t>10</a:t>
                      </a:r>
                    </a:p>
                  </a:txBody>
                  <a:tcPr/>
                </a:tc>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Chandra et al. (2025)</a:t>
                      </a:r>
                      <a:endParaRPr lang="en-IN" sz="1600" b="1"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YOLOv5 on Drivable Area Dataset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Performance drops under low-light or night conditions</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1239658"/>
                  </a:ext>
                </a:extLst>
              </a:tr>
            </a:tbl>
          </a:graphicData>
        </a:graphic>
      </p:graphicFrame>
    </p:spTree>
    <p:extLst>
      <p:ext uri="{BB962C8B-B14F-4D97-AF65-F5344CB8AC3E}">
        <p14:creationId xmlns:p14="http://schemas.microsoft.com/office/powerpoint/2010/main" val="2220719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Google Shape;142;p2">
            <a:extLst>
              <a:ext uri="{FF2B5EF4-FFF2-40B4-BE49-F238E27FC236}">
                <a16:creationId xmlns:a16="http://schemas.microsoft.com/office/drawing/2014/main" id="{0E6342B3-EEEA-2BBE-8E6E-81D7DAC7813F}"/>
              </a:ext>
            </a:extLst>
          </p:cNvPr>
          <p:cNvSpPr txBox="1"/>
          <p:nvPr/>
        </p:nvSpPr>
        <p:spPr>
          <a:xfrm>
            <a:off x="3327925" y="599406"/>
            <a:ext cx="2488151" cy="523180"/>
          </a:xfrm>
          <a:prstGeom prst="rect">
            <a:avLst/>
          </a:prstGeom>
          <a:noFill/>
          <a:ln>
            <a:noFill/>
          </a:ln>
        </p:spPr>
        <p:txBody>
          <a:bodyPr spcFirstLastPara="1" wrap="none" lIns="91425" tIns="45700" rIns="91425" bIns="45700" anchor="ctr"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Dataset Details</a:t>
            </a:r>
            <a:endParaRPr lang="en-US" sz="2800" b="1" i="0" u="none" strike="noStrike" cap="none" dirty="0">
              <a:solidFill>
                <a:schemeClr val="tx1"/>
              </a:solidFill>
              <a:latin typeface="Times New Roman"/>
              <a:ea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id="{954CD24B-3776-B8A4-6E8F-593B1F8AE91A}"/>
              </a:ext>
            </a:extLst>
          </p:cNvPr>
          <p:cNvGraphicFramePr>
            <a:graphicFrameLocks noGrp="1"/>
          </p:cNvGraphicFramePr>
          <p:nvPr>
            <p:extLst>
              <p:ext uri="{D42A27DB-BD31-4B8C-83A1-F6EECF244321}">
                <p14:modId xmlns:p14="http://schemas.microsoft.com/office/powerpoint/2010/main" val="3256643017"/>
              </p:ext>
            </p:extLst>
          </p:nvPr>
        </p:nvGraphicFramePr>
        <p:xfrm>
          <a:off x="195943" y="1122586"/>
          <a:ext cx="8486504" cy="2814649"/>
        </p:xfrm>
        <a:graphic>
          <a:graphicData uri="http://schemas.openxmlformats.org/drawingml/2006/table">
            <a:tbl>
              <a:tblPr firstRow="1" bandRow="1">
                <a:tableStyleId>{ED083AE6-46FA-4A59-8FB0-9F97EB10719F}</a:tableStyleId>
              </a:tblPr>
              <a:tblGrid>
                <a:gridCol w="1750423">
                  <a:extLst>
                    <a:ext uri="{9D8B030D-6E8A-4147-A177-3AD203B41FA5}">
                      <a16:colId xmlns:a16="http://schemas.microsoft.com/office/drawing/2014/main" val="1868816237"/>
                    </a:ext>
                  </a:extLst>
                </a:gridCol>
                <a:gridCol w="1750423">
                  <a:extLst>
                    <a:ext uri="{9D8B030D-6E8A-4147-A177-3AD203B41FA5}">
                      <a16:colId xmlns:a16="http://schemas.microsoft.com/office/drawing/2014/main" val="852626586"/>
                    </a:ext>
                  </a:extLst>
                </a:gridCol>
                <a:gridCol w="3175819">
                  <a:extLst>
                    <a:ext uri="{9D8B030D-6E8A-4147-A177-3AD203B41FA5}">
                      <a16:colId xmlns:a16="http://schemas.microsoft.com/office/drawing/2014/main" val="451567859"/>
                    </a:ext>
                  </a:extLst>
                </a:gridCol>
                <a:gridCol w="1809839">
                  <a:extLst>
                    <a:ext uri="{9D8B030D-6E8A-4147-A177-3AD203B41FA5}">
                      <a16:colId xmlns:a16="http://schemas.microsoft.com/office/drawing/2014/main" val="3984536893"/>
                    </a:ext>
                  </a:extLst>
                </a:gridCol>
              </a:tblGrid>
              <a:tr h="6964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err="1">
                          <a:latin typeface="Times New Roman" panose="02020603050405020304" pitchFamily="18" charset="0"/>
                          <a:cs typeface="Times New Roman" panose="02020603050405020304" pitchFamily="18" charset="0"/>
                        </a:rPr>
                        <a:t>S.No</a:t>
                      </a:r>
                      <a:r>
                        <a:rPr lang="en-IN" sz="1600" dirty="0">
                          <a:latin typeface="Times New Roman" panose="02020603050405020304" pitchFamily="18" charset="0"/>
                          <a:cs typeface="Times New Roman" panose="02020603050405020304" pitchFamily="18" charset="0"/>
                        </a:rPr>
                        <a:t>.</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Dataset Name</a:t>
                      </a:r>
                      <a:endParaRPr lang="en-IN" sz="1600" dirty="0">
                        <a:latin typeface="Times New Roman" panose="02020603050405020304" pitchFamily="18" charset="0"/>
                        <a:cs typeface="Times New Roman" panose="02020603050405020304" pitchFamily="18" charset="0"/>
                      </a:endParaRPr>
                    </a:p>
                  </a:txBody>
                  <a:tcPr/>
                </a:tc>
                <a:tc>
                  <a:txBody>
                    <a:bodyPr/>
                    <a:lstStyle/>
                    <a:p>
                      <a:pPr>
                        <a:buNone/>
                      </a:pPr>
                      <a:r>
                        <a:rPr lang="en-US" sz="1600" b="1" dirty="0">
                          <a:latin typeface="Times New Roman" panose="02020603050405020304" pitchFamily="18" charset="0"/>
                          <a:cs typeface="Times New Roman" panose="02020603050405020304" pitchFamily="18" charset="0"/>
                        </a:rPr>
                        <a:t>Description</a:t>
                      </a:r>
                      <a:endParaRPr lang="en-US" sz="1600" dirty="0">
                        <a:latin typeface="Times New Roman" panose="02020603050405020304" pitchFamily="18" charset="0"/>
                        <a:cs typeface="Times New Roman" panose="02020603050405020304" pitchFamily="18" charset="0"/>
                      </a:endParaRPr>
                    </a:p>
                  </a:txBody>
                  <a:tcPr anchor="ctr"/>
                </a:tc>
                <a:tc>
                  <a:txBody>
                    <a:bodyPr/>
                    <a:lstStyle/>
                    <a:p>
                      <a:r>
                        <a:rPr lang="en-IN" sz="1600" b="1" i="0" u="none" strike="noStrike" cap="none" dirty="0">
                          <a:solidFill>
                            <a:schemeClr val="tx1"/>
                          </a:solidFill>
                          <a:effectLst/>
                          <a:latin typeface="Times New Roman" panose="02020603050405020304" pitchFamily="18" charset="0"/>
                          <a:ea typeface="+mn-ea"/>
                          <a:cs typeface="Times New Roman" panose="02020603050405020304" pitchFamily="18" charset="0"/>
                          <a:sym typeface="Arial"/>
                        </a:rPr>
                        <a:t>Purpose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4215538"/>
                  </a:ext>
                </a:extLst>
              </a:tr>
              <a:tr h="2118241">
                <a:tc>
                  <a:txBody>
                    <a:bodyPr/>
                    <a:lstStyle/>
                    <a:p>
                      <a:r>
                        <a:rPr lang="en-IN" sz="1600" b="1" dirty="0">
                          <a:latin typeface="Times New Roman" panose="02020603050405020304" pitchFamily="18" charset="0"/>
                          <a:cs typeface="Times New Roman" panose="02020603050405020304" pitchFamily="18" charset="0"/>
                        </a:rPr>
                        <a:t>1</a:t>
                      </a:r>
                    </a:p>
                  </a:txBody>
                  <a:tcPr/>
                </a:tc>
                <a:tc>
                  <a:txBody>
                    <a:bodyPr/>
                    <a:lstStyle/>
                    <a:p>
                      <a:r>
                        <a:rPr lang="en-US" sz="1600" b="1" dirty="0">
                          <a:solidFill>
                            <a:srgbClr val="0000CC"/>
                          </a:solidFill>
                          <a:latin typeface="Times New Roman" panose="02020603050405020304" pitchFamily="18" charset="0"/>
                          <a:cs typeface="Times New Roman" panose="02020603050405020304" pitchFamily="18" charset="0"/>
                        </a:rPr>
                        <a:t>Mendeley Road Distress (Passos, 2020)</a:t>
                      </a:r>
                      <a:r>
                        <a:rPr lang="en-US" sz="1600" dirty="0">
                          <a:solidFill>
                            <a:srgbClr val="0000CC"/>
                          </a:solidFill>
                          <a:latin typeface="Times New Roman" panose="02020603050405020304" pitchFamily="18" charset="0"/>
                          <a:cs typeface="Times New Roman" panose="02020603050405020304" pitchFamily="18" charset="0"/>
                        </a:rPr>
                        <a:t>.</a:t>
                      </a:r>
                      <a:endParaRPr lang="en-IN" sz="1600" b="1" dirty="0">
                        <a:solidFill>
                          <a:srgbClr val="0000CC"/>
                        </a:solidFill>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2,235 Images : High-resolution images from Brazilian highways with multiple defect masks.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The datasets provide </a:t>
                      </a:r>
                      <a:r>
                        <a:rPr lang="en-US" sz="1600" b="1" dirty="0">
                          <a:latin typeface="Times New Roman" panose="02020603050405020304" pitchFamily="18" charset="0"/>
                          <a:cs typeface="Times New Roman" panose="02020603050405020304" pitchFamily="18" charset="0"/>
                        </a:rPr>
                        <a:t>Pixel-level Binary Masks</a:t>
                      </a:r>
                      <a:r>
                        <a:rPr lang="en-US" sz="1600" dirty="0">
                          <a:latin typeface="Times New Roman" panose="02020603050405020304" pitchFamily="18" charset="0"/>
                          <a:cs typeface="Times New Roman" panose="02020603050405020304" pitchFamily="18" charset="0"/>
                        </a:rPr>
                        <a:t>, which are essential for training the Mamba-based segmentation engine.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5602459"/>
                  </a:ext>
                </a:extLst>
              </a:tr>
            </a:tbl>
          </a:graphicData>
        </a:graphic>
      </p:graphicFrame>
    </p:spTree>
    <p:extLst>
      <p:ext uri="{BB962C8B-B14F-4D97-AF65-F5344CB8AC3E}">
        <p14:creationId xmlns:p14="http://schemas.microsoft.com/office/powerpoint/2010/main" val="2624487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1BABEAC-7C7F-A173-5F0A-DB7B3073BA15}"/>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749B7F6-356D-57BD-B38C-806B8756726D}"/>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A208BB7-CE0B-56FB-75AA-FF87AC978F62}"/>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5A9DB0A-0380-79E2-79CC-7B6F55C272E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BB94BAB-C808-78E7-E771-CF13A0560DF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BBA2CE2-554A-1C26-E26E-6E35947C0148}"/>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45DF2E9-CD47-F4DD-6050-580B9FA8322E}"/>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4F22CC2-F02B-4655-4C58-50E3426DA2D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42F51ACA-7E79-EA04-B816-5A88056034B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5009474-6E07-A1C0-27F0-35D362051A2E}"/>
              </a:ext>
            </a:extLst>
          </p:cNvPr>
          <p:cNvSpPr txBox="1"/>
          <p:nvPr/>
        </p:nvSpPr>
        <p:spPr>
          <a:xfrm>
            <a:off x="2346091" y="609600"/>
            <a:ext cx="4451829"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System Design Architecture</a:t>
            </a:r>
          </a:p>
        </p:txBody>
      </p:sp>
      <p:sp>
        <p:nvSpPr>
          <p:cNvPr id="3" name="Content Placeholder 4">
            <a:extLst>
              <a:ext uri="{FF2B5EF4-FFF2-40B4-BE49-F238E27FC236}">
                <a16:creationId xmlns:a16="http://schemas.microsoft.com/office/drawing/2014/main" id="{6B6BBF32-AAE0-7552-5843-491528633823}"/>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A23498A-0572-48B2-33BA-DC838483AC43}"/>
              </a:ext>
            </a:extLst>
          </p:cNvPr>
          <p:cNvPicPr>
            <a:picLocks noChangeAspect="1"/>
          </p:cNvPicPr>
          <p:nvPr/>
        </p:nvPicPr>
        <p:blipFill>
          <a:blip r:embed="rId5"/>
          <a:stretch>
            <a:fillRect/>
          </a:stretch>
        </p:blipFill>
        <p:spPr>
          <a:xfrm>
            <a:off x="0" y="1567270"/>
            <a:ext cx="9144000" cy="4703061"/>
          </a:xfrm>
          <a:prstGeom prst="rect">
            <a:avLst/>
          </a:prstGeom>
        </p:spPr>
      </p:pic>
      <p:pic>
        <p:nvPicPr>
          <p:cNvPr id="5" name="Picture 4">
            <a:extLst>
              <a:ext uri="{FF2B5EF4-FFF2-40B4-BE49-F238E27FC236}">
                <a16:creationId xmlns:a16="http://schemas.microsoft.com/office/drawing/2014/main" id="{9B376E20-638D-AD31-7DA2-BB192323F3D9}"/>
              </a:ext>
            </a:extLst>
          </p:cNvPr>
          <p:cNvPicPr>
            <a:picLocks noChangeAspect="1"/>
          </p:cNvPicPr>
          <p:nvPr/>
        </p:nvPicPr>
        <p:blipFill>
          <a:blip r:embed="rId6"/>
          <a:stretch>
            <a:fillRect/>
          </a:stretch>
        </p:blipFill>
        <p:spPr>
          <a:xfrm>
            <a:off x="379077" y="4282102"/>
            <a:ext cx="247685" cy="295316"/>
          </a:xfrm>
          <a:prstGeom prst="rect">
            <a:avLst/>
          </a:prstGeom>
        </p:spPr>
      </p:pic>
      <p:cxnSp>
        <p:nvCxnSpPr>
          <p:cNvPr id="10" name="Straight Arrow Connector 9">
            <a:extLst>
              <a:ext uri="{FF2B5EF4-FFF2-40B4-BE49-F238E27FC236}">
                <a16:creationId xmlns:a16="http://schemas.microsoft.com/office/drawing/2014/main" id="{A6FBDAA2-CB03-C648-33D0-A59CEFDA51AC}"/>
              </a:ext>
            </a:extLst>
          </p:cNvPr>
          <p:cNvCxnSpPr>
            <a:stCxn id="5" idx="0"/>
          </p:cNvCxnSpPr>
          <p:nvPr/>
        </p:nvCxnSpPr>
        <p:spPr>
          <a:xfrm flipH="1" flipV="1">
            <a:off x="502919" y="3967480"/>
            <a:ext cx="1" cy="3146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8786D9A-D754-2ED7-02F7-5CF2D39254A0}"/>
              </a:ext>
            </a:extLst>
          </p:cNvPr>
          <p:cNvSpPr txBox="1"/>
          <p:nvPr/>
        </p:nvSpPr>
        <p:spPr>
          <a:xfrm>
            <a:off x="274319" y="4663440"/>
            <a:ext cx="510177" cy="169277"/>
          </a:xfrm>
          <a:prstGeom prst="rect">
            <a:avLst/>
          </a:prstGeom>
          <a:noFill/>
        </p:spPr>
        <p:txBody>
          <a:bodyPr wrap="square" rtlCol="0">
            <a:spAutoFit/>
          </a:bodyPr>
          <a:lstStyle/>
          <a:p>
            <a:r>
              <a:rPr lang="en-US" sz="500" b="1" dirty="0">
                <a:latin typeface="Arial" panose="020B0604020202020204" pitchFamily="34" charset="0"/>
                <a:cs typeface="Arial" panose="020B0604020202020204" pitchFamily="34" charset="0"/>
              </a:rPr>
              <a:t>DATASET</a:t>
            </a:r>
            <a:endParaRPr lang="en-IN" sz="5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5578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9E7EF7B-56B5-CD7D-3BC3-AABA95C72E7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FD45E5C-E2D9-B83C-F505-390EDE3CEB0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0EE34CAA-111E-A4E1-878E-C70FC8FC2A43}"/>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80D90BE-E163-8BC1-EEB5-254BC10158D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8DDFFDA-619B-2296-7D9F-3CE302C3053A}"/>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95D67A51-C4BF-B84B-C52E-B24A6A5BBE62}"/>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F01C456-91F0-6AAA-B601-20334CA2043C}"/>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F5EECA29-FCEF-A29F-D42E-389CF263A2F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FDAFA004-22A9-86D5-F366-4A3FCFD24DB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CD97EF6-E7CB-4573-EBB4-BFCCA10CD729}"/>
              </a:ext>
            </a:extLst>
          </p:cNvPr>
          <p:cNvSpPr txBox="1"/>
          <p:nvPr/>
        </p:nvSpPr>
        <p:spPr>
          <a:xfrm>
            <a:off x="3059431" y="609600"/>
            <a:ext cx="3025157"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Model Description</a:t>
            </a:r>
          </a:p>
        </p:txBody>
      </p:sp>
      <p:sp>
        <p:nvSpPr>
          <p:cNvPr id="3" name="Content Placeholder 4">
            <a:extLst>
              <a:ext uri="{FF2B5EF4-FFF2-40B4-BE49-F238E27FC236}">
                <a16:creationId xmlns:a16="http://schemas.microsoft.com/office/drawing/2014/main" id="{4CB22E65-82E5-7CEA-5331-94CADC8FA281}"/>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7CA907D-4A23-D604-E227-47CB1F750575}"/>
              </a:ext>
            </a:extLst>
          </p:cNvPr>
          <p:cNvSpPr txBox="1"/>
          <p:nvPr/>
        </p:nvSpPr>
        <p:spPr>
          <a:xfrm>
            <a:off x="517585" y="1476193"/>
            <a:ext cx="8315864" cy="3677930"/>
          </a:xfrm>
          <a:prstGeom prst="rect">
            <a:avLst/>
          </a:prstGeom>
          <a:noFill/>
        </p:spPr>
        <p:txBody>
          <a:bodyPr wrap="square" rtlCol="0">
            <a:spAutoFit/>
          </a:bodyPr>
          <a:lstStyle/>
          <a:p>
            <a:pPr>
              <a:lnSpc>
                <a:spcPct val="150000"/>
              </a:lnSpc>
            </a:pPr>
            <a:r>
              <a:rPr lang="en-IN" sz="1800" b="1" dirty="0">
                <a:latin typeface="Times New Roman" panose="02020603050405020304" pitchFamily="18" charset="0"/>
                <a:cs typeface="Times New Roman" panose="02020603050405020304" pitchFamily="18" charset="0"/>
              </a:rPr>
              <a:t>1. CM-Encoder (Convolution-Mamba Encoder)</a:t>
            </a:r>
          </a:p>
          <a:p>
            <a:pPr>
              <a:lnSpc>
                <a:spcPct val="150000"/>
              </a:lnSpc>
            </a:pP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The CM-Encoder integrates convolutional modules and optimized Mamba modules at each encoder stage. The convolutional branch extracts high-resolution local spatial features of pavement damage using three residual convolution blocks: 1×1 channel compression, 3×3 spatial convolution, and 3×3 dilated spatial convolution. The optimized Mamba module, built on a Structured State Space Model (SSM), captures long-range global context with linear time complexity O(L), avoiding the O(L²) bottleneck of Transformer self-attention. Channel and spatial attention sub-modules enhance feature selectivity, and the two branches are merged through element-wise multiplication and projected back to the original channel dimension.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5434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64F963A-0972-6EBE-AFEC-97BADDB0D17B}"/>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9A03F3C-6CBB-A929-0C58-3892723AF354}"/>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C87F3AE-7A4B-25A7-FD1D-C5C2D9E3AB9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AB26DA3E-FC9E-4AF8-066A-A91CF32A0E2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4723F4A-7A20-8F8A-BD4E-2368049B530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0776FF4B-727C-5DF7-C5B9-584F4BF4E88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688EE2D-BB63-D1B3-4CE9-37E998BD6A5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F596D57-9ADD-CEA3-2144-43692F05155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4E1EED5A-D925-CCD3-C831-E0445C6C4A7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3" name="Content Placeholder 4">
            <a:extLst>
              <a:ext uri="{FF2B5EF4-FFF2-40B4-BE49-F238E27FC236}">
                <a16:creationId xmlns:a16="http://schemas.microsoft.com/office/drawing/2014/main" id="{38224D4E-5065-30EA-5765-3177BE71CA28}"/>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EE449E7-7F66-5286-5C13-FAC830A64F23}"/>
              </a:ext>
            </a:extLst>
          </p:cNvPr>
          <p:cNvSpPr txBox="1"/>
          <p:nvPr/>
        </p:nvSpPr>
        <p:spPr>
          <a:xfrm>
            <a:off x="528039" y="922338"/>
            <a:ext cx="8315864" cy="5311069"/>
          </a:xfrm>
          <a:prstGeom prst="rect">
            <a:avLst/>
          </a:prstGeom>
          <a:noFill/>
        </p:spPr>
        <p:txBody>
          <a:bodyPr wrap="square" rtlCol="0">
            <a:spAutoFit/>
          </a:bodyPr>
          <a:lstStyle/>
          <a:p>
            <a:pPr>
              <a:lnSpc>
                <a:spcPct val="150000"/>
              </a:lnSpc>
            </a:pPr>
            <a:r>
              <a:rPr lang="en-IN" sz="1800" b="1" dirty="0">
                <a:latin typeface="Times New Roman" panose="02020603050405020304" pitchFamily="18" charset="0"/>
                <a:cs typeface="Times New Roman" panose="02020603050405020304" pitchFamily="18" charset="0"/>
              </a:rPr>
              <a:t>2. Multi-Scale Attention Aggregation (MSAA) Module</a:t>
            </a:r>
          </a:p>
          <a:p>
            <a:pPr>
              <a:lnSpc>
                <a:spcPct val="150000"/>
              </a:lnSpc>
            </a:pP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The MSAA module enriches encoder output feature maps by fusing multi-scale local and global information. Parallel 3×3, 5×5, and 7×7 convolutions perform multi-scale feature extraction, followed by spatial aggregation through 7×7 convolution with sigmoid gating, and channel aggregation using global average pooling with two 1×1 convolutional layers. The fused output enhances both spatially and channel-wise important features, improving discrimination between true potholes and visually similar regions such as debris or aggregate patches.</a:t>
            </a:r>
          </a:p>
          <a:p>
            <a:pPr>
              <a:lnSpc>
                <a:spcPct val="150000"/>
              </a:lnSpc>
            </a:pPr>
            <a:r>
              <a:rPr lang="en-IN" sz="1800" b="1" dirty="0">
                <a:latin typeface="Times New Roman" panose="02020603050405020304" pitchFamily="18" charset="0"/>
                <a:cs typeface="Times New Roman" panose="02020603050405020304" pitchFamily="18" charset="0"/>
              </a:rPr>
              <a:t>3. Lightweight Feature Decoder</a:t>
            </a:r>
          </a:p>
          <a:p>
            <a:pPr>
              <a:lnSpc>
                <a:spcPct val="150000"/>
              </a:lnSpc>
            </a:pP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 lightweight MLP-based decoder is employed to reduce computational cost. Multi-scale features from the MSAA module are combined through 1×1 convolution, </a:t>
            </a:r>
            <a:r>
              <a:rPr lang="en-IN" sz="1600" dirty="0" err="1">
                <a:latin typeface="Times New Roman" panose="02020603050405020304" pitchFamily="18" charset="0"/>
                <a:cs typeface="Times New Roman" panose="02020603050405020304" pitchFamily="18" charset="0"/>
              </a:rPr>
              <a:t>upsampled</a:t>
            </a:r>
            <a:r>
              <a:rPr lang="en-IN" sz="1600" dirty="0">
                <a:latin typeface="Times New Roman" panose="02020603050405020304" pitchFamily="18" charset="0"/>
                <a:cs typeface="Times New Roman" panose="02020603050405020304" pitchFamily="18" charset="0"/>
              </a:rPr>
              <a:t>, and processed by 8×8 convolution. The merged features are mapped to 1-D tokens, and spatial and channel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is performed via MLP layers. A final </a:t>
            </a:r>
            <a:r>
              <a:rPr lang="en-IN" sz="1600" dirty="0" err="1">
                <a:latin typeface="Times New Roman" panose="02020603050405020304" pitchFamily="18" charset="0"/>
                <a:cs typeface="Times New Roman" panose="02020603050405020304" pitchFamily="18" charset="0"/>
              </a:rPr>
              <a:t>upsampling</a:t>
            </a:r>
            <a:r>
              <a:rPr lang="en-IN" sz="1600" dirty="0">
                <a:latin typeface="Times New Roman" panose="02020603050405020304" pitchFamily="18" charset="0"/>
                <a:cs typeface="Times New Roman" panose="02020603050405020304" pitchFamily="18" charset="0"/>
              </a:rPr>
              <a:t> step produces the pixel-level segmentation mask predicting pothole regions at the original image resolution.</a:t>
            </a:r>
          </a:p>
          <a:p>
            <a:pPr>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911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8EAF58E7-7DBE-EC29-1D45-12C185CB0219}"/>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1D77D893-3B3D-8450-8CC2-F28DFF40546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C2E10B4-4DA4-63E9-3C5B-AA8A38CA902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6C6CD3B7-EA34-25A8-45D7-36A6DEAC42CA}"/>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CB28F19-70DE-25B8-0B93-D57B34D6F9FB}"/>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1B974E6E-A2AA-3363-C5AF-8294F7E88A4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8A5A93B3-1890-C5B7-D2E9-2A32F99DE032}"/>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19DFFEB1-C4BC-9155-65DB-15C4C4C2EBE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AB217A35-2F9D-B6C2-C56E-B1AEB13E2A2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3" name="Content Placeholder 4">
            <a:extLst>
              <a:ext uri="{FF2B5EF4-FFF2-40B4-BE49-F238E27FC236}">
                <a16:creationId xmlns:a16="http://schemas.microsoft.com/office/drawing/2014/main" id="{A022D501-4FFE-0C57-63DB-1D2CF613EED4}"/>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684B641-A345-0F46-03C1-9B8A4AE7E0A5}"/>
              </a:ext>
            </a:extLst>
          </p:cNvPr>
          <p:cNvSpPr txBox="1"/>
          <p:nvPr/>
        </p:nvSpPr>
        <p:spPr>
          <a:xfrm>
            <a:off x="531273" y="819151"/>
            <a:ext cx="8315864" cy="3141245"/>
          </a:xfrm>
          <a:prstGeom prst="rect">
            <a:avLst/>
          </a:prstGeom>
          <a:noFill/>
        </p:spPr>
        <p:txBody>
          <a:bodyPr wrap="square" rtlCol="0">
            <a:spAutoFit/>
          </a:bodyPr>
          <a:lstStyle/>
          <a:p>
            <a:pPr>
              <a:lnSpc>
                <a:spcPct val="150000"/>
              </a:lnSpc>
            </a:pPr>
            <a:r>
              <a:rPr lang="en-IN" sz="1800" b="1" dirty="0">
                <a:latin typeface="Times New Roman" panose="02020603050405020304" pitchFamily="18" charset="0"/>
                <a:cs typeface="Times New Roman" panose="02020603050405020304" pitchFamily="18" charset="0"/>
              </a:rPr>
              <a:t>4. </a:t>
            </a:r>
            <a:r>
              <a:rPr lang="en-IN" sz="2000" b="1" dirty="0" err="1">
                <a:latin typeface="Times New Roman" panose="02020603050405020304" pitchFamily="18" charset="0"/>
                <a:cs typeface="Times New Roman" panose="02020603050405020304" pitchFamily="18" charset="0"/>
              </a:rPr>
              <a:t>ShadowNet</a:t>
            </a:r>
            <a:r>
              <a:rPr lang="en-IN" sz="2000" b="1" dirty="0">
                <a:latin typeface="Times New Roman" panose="02020603050405020304" pitchFamily="18" charset="0"/>
                <a:cs typeface="Times New Roman" panose="02020603050405020304" pitchFamily="18" charset="0"/>
              </a:rPr>
              <a:t> - Shadow Suppression Module</a:t>
            </a:r>
          </a:p>
          <a:p>
            <a:pPr>
              <a:lnSpc>
                <a:spcPct val="150000"/>
              </a:lnSpc>
            </a:pPr>
            <a:r>
              <a:rPr lang="en-IN" sz="1800" b="1"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ShadowNet</a:t>
            </a:r>
            <a:r>
              <a:rPr lang="en-IN" sz="1600" dirty="0">
                <a:latin typeface="Times New Roman" panose="02020603050405020304" pitchFamily="18" charset="0"/>
                <a:cs typeface="Times New Roman" panose="02020603050405020304" pitchFamily="18" charset="0"/>
              </a:rPr>
              <a:t> is a dedicated shadow detection sub-network integrated into the full inference pipeline. Road shadows from trees, buildings, and vehicles frequently create dark regions that resemble potholes in </a:t>
            </a:r>
            <a:r>
              <a:rPr lang="en-IN" sz="1600" dirty="0" err="1">
                <a:latin typeface="Times New Roman" panose="02020603050405020304" pitchFamily="18" charset="0"/>
                <a:cs typeface="Times New Roman" panose="02020603050405020304" pitchFamily="18" charset="0"/>
              </a:rPr>
              <a:t>color</a:t>
            </a:r>
            <a:r>
              <a:rPr lang="en-IN" sz="1600" dirty="0">
                <a:latin typeface="Times New Roman" panose="02020603050405020304" pitchFamily="18" charset="0"/>
                <a:cs typeface="Times New Roman" panose="02020603050405020304" pitchFamily="18" charset="0"/>
              </a:rPr>
              <a:t> and texture, leading to false positives in conventional models. </a:t>
            </a:r>
            <a:r>
              <a:rPr lang="en-IN" sz="1600" dirty="0" err="1">
                <a:latin typeface="Times New Roman" panose="02020603050405020304" pitchFamily="18" charset="0"/>
                <a:cs typeface="Times New Roman" panose="02020603050405020304" pitchFamily="18" charset="0"/>
              </a:rPr>
              <a:t>ShadowNet</a:t>
            </a:r>
            <a:r>
              <a:rPr lang="en-IN" sz="1600" dirty="0">
                <a:latin typeface="Times New Roman" panose="02020603050405020304" pitchFamily="18" charset="0"/>
                <a:cs typeface="Times New Roman" panose="02020603050405020304" pitchFamily="18" charset="0"/>
              </a:rPr>
              <a:t> generates a probability map of shadow regions from the input image. This map is fused with </a:t>
            </a:r>
            <a:r>
              <a:rPr lang="en-IN" sz="1600" dirty="0" err="1">
                <a:latin typeface="Times New Roman" panose="02020603050405020304" pitchFamily="18" charset="0"/>
                <a:cs typeface="Times New Roman" panose="02020603050405020304" pitchFamily="18" charset="0"/>
              </a:rPr>
              <a:t>CMSegNet</a:t>
            </a:r>
            <a:r>
              <a:rPr lang="en-IN" sz="1600" dirty="0">
                <a:latin typeface="Times New Roman" panose="02020603050405020304" pitchFamily="18" charset="0"/>
                <a:cs typeface="Times New Roman" panose="02020603050405020304" pitchFamily="18" charset="0"/>
              </a:rPr>
              <a:t>-Edge's segmentation output to suppress false detections in shadowed areas. A safety fallback mechanism ensures that if </a:t>
            </a:r>
            <a:r>
              <a:rPr lang="en-IN" sz="1600" dirty="0" err="1">
                <a:latin typeface="Times New Roman" panose="02020603050405020304" pitchFamily="18" charset="0"/>
                <a:cs typeface="Times New Roman" panose="02020603050405020304" pitchFamily="18" charset="0"/>
              </a:rPr>
              <a:t>ShadowNet's</a:t>
            </a:r>
            <a:r>
              <a:rPr lang="en-IN" sz="1600" dirty="0">
                <a:latin typeface="Times New Roman" panose="02020603050405020304" pitchFamily="18" charset="0"/>
                <a:cs typeface="Times New Roman" panose="02020603050405020304" pitchFamily="18" charset="0"/>
              </a:rPr>
              <a:t> output appears near-constant (indicating unstable prediction), inference reverts to the </a:t>
            </a:r>
            <a:r>
              <a:rPr lang="en-IN" sz="1600" dirty="0" err="1">
                <a:latin typeface="Times New Roman" panose="02020603050405020304" pitchFamily="18" charset="0"/>
                <a:cs typeface="Times New Roman" panose="02020603050405020304" pitchFamily="18" charset="0"/>
              </a:rPr>
              <a:t>CMSegNet</a:t>
            </a:r>
            <a:r>
              <a:rPr lang="en-IN" sz="1600" dirty="0">
                <a:latin typeface="Times New Roman" panose="02020603050405020304" pitchFamily="18" charset="0"/>
                <a:cs typeface="Times New Roman" panose="02020603050405020304" pitchFamily="18" charset="0"/>
              </a:rPr>
              <a:t>-Edge mask alone.</a:t>
            </a:r>
          </a:p>
        </p:txBody>
      </p:sp>
    </p:spTree>
    <p:extLst>
      <p:ext uri="{BB962C8B-B14F-4D97-AF65-F5344CB8AC3E}">
        <p14:creationId xmlns:p14="http://schemas.microsoft.com/office/powerpoint/2010/main" val="2817527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63A070A4-7B35-CD73-D966-264B1F46001C}"/>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1474A684-67E0-B74D-0507-FD6D7363DB2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8A707CC-4440-0F87-2B11-337A166A19E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DC2FB027-4FCB-197E-63A2-8C3F5E9D77CA}"/>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266367D5-A10B-AFAB-2EBE-6EBFEC6AEFA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1F7B61CF-E0EE-98F0-D9EC-F2925BA7DCD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603A230A-E19B-8ACF-77D3-5606503EFF91}"/>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9AD9DD26-7FB3-DEA4-1550-57443A7F4A4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790F16ED-97D4-761D-AEBF-5D0FE609FD3E}"/>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F4AC738-DAC0-B83F-AD7D-80D93AF0F39A}"/>
              </a:ext>
            </a:extLst>
          </p:cNvPr>
          <p:cNvSpPr txBox="1"/>
          <p:nvPr/>
        </p:nvSpPr>
        <p:spPr>
          <a:xfrm>
            <a:off x="3297474" y="609600"/>
            <a:ext cx="2549065"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Visual Analysis</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4D9C5E79-E7D6-7FE6-0E80-1479CB3F1EA6}"/>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CBDD48-CCBC-73FB-7947-811FA0C66C79}"/>
              </a:ext>
            </a:extLst>
          </p:cNvPr>
          <p:cNvPicPr>
            <a:picLocks noChangeAspect="1"/>
          </p:cNvPicPr>
          <p:nvPr/>
        </p:nvPicPr>
        <p:blipFill>
          <a:blip r:embed="rId5"/>
          <a:stretch>
            <a:fillRect/>
          </a:stretch>
        </p:blipFill>
        <p:spPr>
          <a:xfrm>
            <a:off x="763113" y="1155518"/>
            <a:ext cx="7220958" cy="4696480"/>
          </a:xfrm>
          <a:prstGeom prst="rect">
            <a:avLst/>
          </a:prstGeom>
        </p:spPr>
      </p:pic>
      <p:sp>
        <p:nvSpPr>
          <p:cNvPr id="7" name="TextBox 6">
            <a:extLst>
              <a:ext uri="{FF2B5EF4-FFF2-40B4-BE49-F238E27FC236}">
                <a16:creationId xmlns:a16="http://schemas.microsoft.com/office/drawing/2014/main" id="{D0F4E1C1-595E-28EB-5C8F-3BE4260EC3CB}"/>
              </a:ext>
            </a:extLst>
          </p:cNvPr>
          <p:cNvSpPr txBox="1"/>
          <p:nvPr/>
        </p:nvSpPr>
        <p:spPr>
          <a:xfrm>
            <a:off x="1199072" y="6018784"/>
            <a:ext cx="2380891" cy="307777"/>
          </a:xfrm>
          <a:prstGeom prst="rect">
            <a:avLst/>
          </a:prstGeom>
          <a:noFill/>
        </p:spPr>
        <p:txBody>
          <a:bodyPr wrap="square" rtlCol="0">
            <a:spAutoFit/>
          </a:bodyPr>
          <a:lstStyle/>
          <a:p>
            <a:r>
              <a:rPr lang="en-US" dirty="0" err="1"/>
              <a:t>CMSegNet</a:t>
            </a:r>
            <a:endParaRPr lang="en-IN" dirty="0"/>
          </a:p>
        </p:txBody>
      </p:sp>
      <p:sp>
        <p:nvSpPr>
          <p:cNvPr id="8" name="TextBox 7">
            <a:extLst>
              <a:ext uri="{FF2B5EF4-FFF2-40B4-BE49-F238E27FC236}">
                <a16:creationId xmlns:a16="http://schemas.microsoft.com/office/drawing/2014/main" id="{59A546A8-6012-83BD-8502-F4ADB9B03FA2}"/>
              </a:ext>
            </a:extLst>
          </p:cNvPr>
          <p:cNvSpPr txBox="1"/>
          <p:nvPr/>
        </p:nvSpPr>
        <p:spPr>
          <a:xfrm>
            <a:off x="3364302" y="6018784"/>
            <a:ext cx="2380891" cy="307777"/>
          </a:xfrm>
          <a:prstGeom prst="rect">
            <a:avLst/>
          </a:prstGeom>
          <a:noFill/>
        </p:spPr>
        <p:txBody>
          <a:bodyPr wrap="square" rtlCol="0">
            <a:spAutoFit/>
          </a:bodyPr>
          <a:lstStyle/>
          <a:p>
            <a:r>
              <a:rPr lang="en-US" dirty="0" err="1"/>
              <a:t>CMSegNet</a:t>
            </a:r>
            <a:r>
              <a:rPr lang="en-US" dirty="0"/>
              <a:t> + </a:t>
            </a:r>
            <a:r>
              <a:rPr lang="en-US" dirty="0" err="1"/>
              <a:t>EdgeHead</a:t>
            </a:r>
            <a:endParaRPr lang="en-IN" dirty="0"/>
          </a:p>
        </p:txBody>
      </p:sp>
      <p:sp>
        <p:nvSpPr>
          <p:cNvPr id="9" name="TextBox 8">
            <a:extLst>
              <a:ext uri="{FF2B5EF4-FFF2-40B4-BE49-F238E27FC236}">
                <a16:creationId xmlns:a16="http://schemas.microsoft.com/office/drawing/2014/main" id="{4E69EED1-7CE8-22C2-52B2-B445F4D4D9FF}"/>
              </a:ext>
            </a:extLst>
          </p:cNvPr>
          <p:cNvSpPr txBox="1"/>
          <p:nvPr/>
        </p:nvSpPr>
        <p:spPr>
          <a:xfrm>
            <a:off x="6047117" y="6018784"/>
            <a:ext cx="2177721" cy="307777"/>
          </a:xfrm>
          <a:prstGeom prst="rect">
            <a:avLst/>
          </a:prstGeom>
          <a:noFill/>
        </p:spPr>
        <p:txBody>
          <a:bodyPr wrap="square" rtlCol="0">
            <a:spAutoFit/>
          </a:bodyPr>
          <a:lstStyle/>
          <a:p>
            <a:r>
              <a:rPr lang="en-US" dirty="0" err="1"/>
              <a:t>CMSegNet</a:t>
            </a:r>
            <a:r>
              <a:rPr lang="en-US" dirty="0"/>
              <a:t> + </a:t>
            </a:r>
            <a:r>
              <a:rPr lang="en-US" dirty="0" err="1"/>
              <a:t>ShadowNet</a:t>
            </a:r>
            <a:endParaRPr lang="en-IN" dirty="0"/>
          </a:p>
        </p:txBody>
      </p:sp>
    </p:spTree>
    <p:extLst>
      <p:ext uri="{BB962C8B-B14F-4D97-AF65-F5344CB8AC3E}">
        <p14:creationId xmlns:p14="http://schemas.microsoft.com/office/powerpoint/2010/main" val="457738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E1721EF-9902-73E7-5B2C-289B8FDB748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C6198CE6-5B8C-5C19-8C90-1FB5163E2D0A}"/>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694232F5-D003-F828-422F-0BB0E1677B0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BCD34B4B-27EB-BE5C-D72A-DCF1B118C89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CCE3C54-287F-31A5-595E-F7471E1F8971}"/>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C59ABCA-8311-1462-7BE6-A532E56A0E3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897E937-A33E-88C8-B2F8-8DA02A7F38F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67049C6-5D8E-3B9C-3D9C-134C9FFA9FC8}"/>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99F2818B-BC57-DE9C-2912-CED4743E131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828D7C6-6391-2FAE-2564-0F4338C95ACF}"/>
              </a:ext>
            </a:extLst>
          </p:cNvPr>
          <p:cNvSpPr txBox="1"/>
          <p:nvPr/>
        </p:nvSpPr>
        <p:spPr>
          <a:xfrm>
            <a:off x="2717988" y="609600"/>
            <a:ext cx="3708037"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Implementation Result</a:t>
            </a:r>
          </a:p>
        </p:txBody>
      </p:sp>
      <p:sp>
        <p:nvSpPr>
          <p:cNvPr id="3" name="Content Placeholder 4">
            <a:extLst>
              <a:ext uri="{FF2B5EF4-FFF2-40B4-BE49-F238E27FC236}">
                <a16:creationId xmlns:a16="http://schemas.microsoft.com/office/drawing/2014/main" id="{9FB016B8-AEB0-8177-D848-F97729E06C05}"/>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A6D3C56-4560-21A5-ADA6-0AD6D1A54B78}"/>
              </a:ext>
            </a:extLst>
          </p:cNvPr>
          <p:cNvPicPr>
            <a:picLocks noChangeAspect="1"/>
          </p:cNvPicPr>
          <p:nvPr/>
        </p:nvPicPr>
        <p:blipFill>
          <a:blip r:embed="rId5"/>
          <a:stretch>
            <a:fillRect/>
          </a:stretch>
        </p:blipFill>
        <p:spPr>
          <a:xfrm>
            <a:off x="411480" y="1445518"/>
            <a:ext cx="3419856" cy="3799332"/>
          </a:xfrm>
          <a:prstGeom prst="rect">
            <a:avLst/>
          </a:prstGeom>
        </p:spPr>
      </p:pic>
      <p:pic>
        <p:nvPicPr>
          <p:cNvPr id="7" name="Picture 6">
            <a:extLst>
              <a:ext uri="{FF2B5EF4-FFF2-40B4-BE49-F238E27FC236}">
                <a16:creationId xmlns:a16="http://schemas.microsoft.com/office/drawing/2014/main" id="{19529FC9-25AA-87F9-9F3D-35A5DD8BC013}"/>
              </a:ext>
            </a:extLst>
          </p:cNvPr>
          <p:cNvPicPr>
            <a:picLocks noChangeAspect="1"/>
          </p:cNvPicPr>
          <p:nvPr/>
        </p:nvPicPr>
        <p:blipFill>
          <a:blip r:embed="rId6"/>
          <a:stretch>
            <a:fillRect/>
          </a:stretch>
        </p:blipFill>
        <p:spPr>
          <a:xfrm>
            <a:off x="5312666" y="1439680"/>
            <a:ext cx="3294317" cy="3799332"/>
          </a:xfrm>
          <a:prstGeom prst="rect">
            <a:avLst/>
          </a:prstGeom>
        </p:spPr>
      </p:pic>
      <p:sp>
        <p:nvSpPr>
          <p:cNvPr id="9" name="TextBox 8">
            <a:extLst>
              <a:ext uri="{FF2B5EF4-FFF2-40B4-BE49-F238E27FC236}">
                <a16:creationId xmlns:a16="http://schemas.microsoft.com/office/drawing/2014/main" id="{C200ED2F-B813-B945-0F78-4C9BF429DFF8}"/>
              </a:ext>
            </a:extLst>
          </p:cNvPr>
          <p:cNvSpPr txBox="1"/>
          <p:nvPr/>
        </p:nvSpPr>
        <p:spPr>
          <a:xfrm>
            <a:off x="411480" y="5557588"/>
            <a:ext cx="8138795" cy="369332"/>
          </a:xfrm>
          <a:prstGeom prst="rect">
            <a:avLst/>
          </a:prstGeom>
          <a:noFill/>
        </p:spPr>
        <p:txBody>
          <a:bodyPr wrap="square" rtlCol="0">
            <a:spAutoFit/>
          </a:bodyPr>
          <a:lstStyle/>
          <a:p>
            <a:r>
              <a:rPr lang="en-IN" b="1" dirty="0"/>
              <a:t>                   </a:t>
            </a:r>
            <a:r>
              <a:rPr lang="en-IN" sz="1800" b="1" dirty="0">
                <a:latin typeface="Times New Roman" panose="02020603050405020304" pitchFamily="18" charset="0"/>
                <a:cs typeface="Times New Roman" panose="02020603050405020304" pitchFamily="18" charset="0"/>
              </a:rPr>
              <a:t>Original Photo</a:t>
            </a:r>
            <a:r>
              <a:rPr lang="en-IN" b="1" dirty="0"/>
              <a:t>                                                                   </a:t>
            </a:r>
            <a:r>
              <a:rPr lang="en-IN" sz="1800" b="1" dirty="0">
                <a:latin typeface="Times New Roman" panose="02020603050405020304" pitchFamily="18" charset="0"/>
                <a:cs typeface="Times New Roman" panose="02020603050405020304" pitchFamily="18" charset="0"/>
              </a:rPr>
              <a:t>Pothole Identified</a:t>
            </a:r>
          </a:p>
        </p:txBody>
      </p:sp>
    </p:spTree>
    <p:extLst>
      <p:ext uri="{BB962C8B-B14F-4D97-AF65-F5344CB8AC3E}">
        <p14:creationId xmlns:p14="http://schemas.microsoft.com/office/powerpoint/2010/main" val="1919578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040F1DB-6ED9-7B66-6DD5-3BCE542F52D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C3C32434-0777-E574-BCDE-F980E0A2C3ED}"/>
              </a:ext>
            </a:extLst>
          </p:cNvPr>
          <p:cNvPicPr preferRelativeResize="0"/>
          <p:nvPr/>
        </p:nvPicPr>
        <p:blipFill rotWithShape="1">
          <a:blip r:embed="rId3">
            <a:alphaModFix/>
          </a:blip>
          <a:srcRect/>
          <a:stretch/>
        </p:blipFill>
        <p:spPr>
          <a:xfrm>
            <a:off x="0" y="6570452"/>
            <a:ext cx="9144000" cy="307975"/>
          </a:xfrm>
          <a:prstGeom prst="rect">
            <a:avLst/>
          </a:prstGeom>
          <a:noFill/>
          <a:ln>
            <a:noFill/>
          </a:ln>
        </p:spPr>
      </p:pic>
      <p:sp>
        <p:nvSpPr>
          <p:cNvPr id="135" name="Google Shape;135;p2">
            <a:extLst>
              <a:ext uri="{FF2B5EF4-FFF2-40B4-BE49-F238E27FC236}">
                <a16:creationId xmlns:a16="http://schemas.microsoft.com/office/drawing/2014/main" id="{674710FE-830D-71BA-F116-DAF4E461FC49}"/>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CE54CF18-6D96-B94E-0E29-E2A60FC004B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5A6C90E-9873-FA5F-58CF-11048DB9B15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A5C9874-61DF-FB3C-D576-4060F0197817}"/>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00FAF59-937B-5086-8FB6-BA0AC425B57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C7CF7FD4-95C1-AA6D-0A08-54F697BF5CD8}"/>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0E0E58D0-CB22-94D3-465F-9E6A28549FEC}"/>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6A7D419-5846-81B8-5226-E217D985E7C2}"/>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6ED2CFF7-A6F3-DE99-87B1-A2AA803FB6B1}"/>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tabLst>
                <a:tab pos="520700" algn="l"/>
              </a:tabLst>
              <a:defRPr/>
            </a:pPr>
            <a:endParaRPr lang="en-US" sz="1800" b="1" dirty="0"/>
          </a:p>
          <a:p>
            <a:pPr marL="284163" indent="-284163" algn="ctr">
              <a:spcBef>
                <a:spcPct val="0"/>
              </a:spcBef>
              <a:tabLst>
                <a:tab pos="520700" algn="l"/>
              </a:tabLst>
              <a:defRPr/>
            </a:pPr>
            <a:r>
              <a:rPr lang="en-US" sz="2400" b="1" dirty="0"/>
              <a:t>Evolutional Metrics</a:t>
            </a:r>
          </a:p>
          <a:p>
            <a:pPr marL="284163" indent="-284163" algn="ctr">
              <a:spcBef>
                <a:spcPct val="0"/>
              </a:spcBef>
              <a:tabLst>
                <a:tab pos="520700" algn="l"/>
              </a:tabLst>
              <a:defRPr/>
            </a:pPr>
            <a:endParaRPr lang="en-US" sz="1800" b="1" dirty="0"/>
          </a:p>
          <a:p>
            <a:br>
              <a:rPr lang="en-IN" sz="1600" dirty="0"/>
            </a:br>
            <a:endParaRPr lang="en-IN" altLang="en-US" sz="16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9F0FCF4-6AE4-E384-748A-863CE471B208}"/>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pic>
        <p:nvPicPr>
          <p:cNvPr id="8" name="Picture 7">
            <a:extLst>
              <a:ext uri="{FF2B5EF4-FFF2-40B4-BE49-F238E27FC236}">
                <a16:creationId xmlns:a16="http://schemas.microsoft.com/office/drawing/2014/main" id="{E4334CCC-55E5-24FD-A7AA-4045249508D2}"/>
              </a:ext>
            </a:extLst>
          </p:cNvPr>
          <p:cNvPicPr>
            <a:picLocks noChangeAspect="1"/>
          </p:cNvPicPr>
          <p:nvPr/>
        </p:nvPicPr>
        <p:blipFill>
          <a:blip r:embed="rId5"/>
          <a:stretch>
            <a:fillRect/>
          </a:stretch>
        </p:blipFill>
        <p:spPr>
          <a:xfrm>
            <a:off x="0" y="1614462"/>
            <a:ext cx="9144000" cy="4350463"/>
          </a:xfrm>
          <a:prstGeom prst="rect">
            <a:avLst/>
          </a:prstGeom>
        </p:spPr>
      </p:pic>
    </p:spTree>
    <p:extLst>
      <p:ext uri="{BB962C8B-B14F-4D97-AF65-F5344CB8AC3E}">
        <p14:creationId xmlns:p14="http://schemas.microsoft.com/office/powerpoint/2010/main" val="1591611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301C996-8665-4308-43F9-16D451E72E1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1007C86C-DE4D-A059-5235-56AF6CBCEC38}"/>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E311AAE-757D-9C79-3E7D-DA9DC071D3B5}"/>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B4E7F55A-385B-2F6D-2CBD-85D57FED2A78}"/>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4825B58-5FBB-A920-47B0-EF342549375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D029E80-93C0-D703-FC83-B8D654F8B8D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A92B105-06EF-D920-FC3F-192B4590D10F}"/>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F73349E-14EE-B2FF-F828-99E63E7F3F6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0CE931C2-1BAA-6FC0-4B5A-D62A4411EABC}"/>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6500D2C-32A9-A3FA-C58A-533725FF4D33}"/>
              </a:ext>
            </a:extLst>
          </p:cNvPr>
          <p:cNvSpPr txBox="1"/>
          <p:nvPr/>
        </p:nvSpPr>
        <p:spPr>
          <a:xfrm>
            <a:off x="2794685" y="599406"/>
            <a:ext cx="3554630" cy="523180"/>
          </a:xfrm>
          <a:prstGeom prst="rect">
            <a:avLst/>
          </a:prstGeom>
          <a:noFill/>
          <a:ln>
            <a:noFill/>
          </a:ln>
        </p:spPr>
        <p:txBody>
          <a:bodyPr spcFirstLastPara="1" wrap="non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9DE5E8DB-E68D-77F0-CC6D-E1674E64EC11}"/>
              </a:ext>
            </a:extLst>
          </p:cNvPr>
          <p:cNvSpPr txBox="1">
            <a:spLocks noChangeArrowheads="1"/>
          </p:cNvSpPr>
          <p:nvPr/>
        </p:nvSpPr>
        <p:spPr>
          <a:xfrm>
            <a:off x="91281" y="630238"/>
            <a:ext cx="8961438" cy="59166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4163" indent="-284163" algn="ctr">
              <a:spcBef>
                <a:spcPct val="0"/>
              </a:spcBef>
              <a:tabLst>
                <a:tab pos="520700" algn="l"/>
              </a:tabLst>
              <a:defRPr/>
            </a:pPr>
            <a:endParaRPr lang="en-US" sz="1800" b="1" dirty="0"/>
          </a:p>
          <a:p>
            <a:pPr marL="284163" indent="-284163" algn="ctr">
              <a:spcBef>
                <a:spcPct val="0"/>
              </a:spcBef>
              <a:tabLst>
                <a:tab pos="520700" algn="l"/>
              </a:tabLst>
              <a:defRPr/>
            </a:pPr>
            <a:r>
              <a:rPr lang="en-US" sz="2400" b="1" dirty="0"/>
              <a:t>Purposed Novelty</a:t>
            </a:r>
          </a:p>
          <a:p>
            <a:pPr marL="284163" indent="-284163" algn="ctr">
              <a:spcBef>
                <a:spcPct val="0"/>
              </a:spcBef>
              <a:tabLst>
                <a:tab pos="520700" algn="l"/>
              </a:tabLst>
              <a:defRPr/>
            </a:pPr>
            <a:endParaRPr lang="en-US" sz="1800" b="1" dirty="0"/>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Adds explicit class-imbalance handling to lift recall/</a:t>
            </a:r>
            <a:r>
              <a:rPr lang="en-IN" sz="1600" dirty="0" err="1">
                <a:latin typeface="Times New Roman" panose="02020603050405020304" pitchFamily="18" charset="0"/>
                <a:cs typeface="Times New Roman" panose="02020603050405020304" pitchFamily="18" charset="0"/>
              </a:rPr>
              <a:t>IoU</a:t>
            </a:r>
            <a:r>
              <a:rPr lang="en-IN" sz="1600" dirty="0">
                <a:latin typeface="Times New Roman" panose="02020603050405020304" pitchFamily="18" charset="0"/>
                <a:cs typeface="Times New Roman" panose="02020603050405020304" pitchFamily="18" charset="0"/>
              </a:rPr>
              <a:t> beyond the </a:t>
            </a:r>
            <a:r>
              <a:rPr lang="en-IN" sz="1600" dirty="0" err="1">
                <a:latin typeface="Times New Roman" panose="02020603050405020304" pitchFamily="18" charset="0"/>
                <a:cs typeface="Times New Roman" panose="02020603050405020304" pitchFamily="18" charset="0"/>
              </a:rPr>
              <a:t>CMSegNet</a:t>
            </a:r>
            <a:r>
              <a:rPr lang="en-IN" sz="1600" dirty="0">
                <a:latin typeface="Times New Roman" panose="02020603050405020304" pitchFamily="18" charset="0"/>
                <a:cs typeface="Times New Roman" panose="02020603050405020304" pitchFamily="18" charset="0"/>
              </a:rPr>
              <a:t> training setup.  </a:t>
            </a:r>
          </a:p>
          <a:p>
            <a:pPr marL="28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Introduces </a:t>
            </a:r>
            <a:r>
              <a:rPr lang="en-IN" sz="1600" dirty="0" err="1">
                <a:latin typeface="Times New Roman" panose="02020603050405020304" pitchFamily="18" charset="0"/>
                <a:cs typeface="Times New Roman" panose="02020603050405020304" pitchFamily="18" charset="0"/>
              </a:rPr>
              <a:t>ShadowNet</a:t>
            </a:r>
            <a:r>
              <a:rPr lang="en-IN" sz="1600" dirty="0">
                <a:latin typeface="Times New Roman" panose="02020603050405020304" pitchFamily="18" charset="0"/>
                <a:cs typeface="Times New Roman" panose="02020603050405020304" pitchFamily="18" charset="0"/>
              </a:rPr>
              <a:t>-based shadow suppression with a reliability fallback to reduce shadow‑driven false positives during inference.  </a:t>
            </a:r>
          </a:p>
          <a:p>
            <a:pPr marL="28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Provides a unified multi‑model comparison pipeline that outputs CSV metrics plus 6 visualizations for fast model selection.  </a:t>
            </a:r>
          </a:p>
          <a:p>
            <a:pPr marL="285750" indent="-285750">
              <a:lnSpc>
                <a:spcPct val="150000"/>
              </a:lnSpc>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Delivers a reproducible end‑to‑end workflow .</a:t>
            </a:r>
          </a:p>
          <a:p>
            <a:br>
              <a:rPr lang="en-IN" sz="1600" dirty="0"/>
            </a:br>
            <a:endParaRPr lang="en-IN" altLang="en-US" sz="16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50C1FBA-BD06-2693-96A1-0B785286DB92}"/>
              </a:ext>
            </a:extLst>
          </p:cNvPr>
          <p:cNvSpPr/>
          <p:nvPr/>
        </p:nvSpPr>
        <p:spPr>
          <a:xfrm>
            <a:off x="238125" y="5796650"/>
            <a:ext cx="8649843" cy="307777"/>
          </a:xfrm>
          <a:prstGeom prst="rect">
            <a:avLst/>
          </a:prstGeom>
        </p:spPr>
        <p:txBody>
          <a:bodyPr wrap="square">
            <a:spAutoFit/>
          </a:bodyPr>
          <a:lstStyle/>
          <a:p>
            <a:pPr algn="just">
              <a:defRPr/>
            </a:pPr>
            <a:endParaRPr lang="en-US" dirty="0">
              <a:solidFill>
                <a:srgbClr val="0000CC"/>
              </a:solidFill>
              <a:cs typeface="Arial" charset="0"/>
            </a:endParaRPr>
          </a:p>
        </p:txBody>
      </p:sp>
    </p:spTree>
    <p:extLst>
      <p:ext uri="{BB962C8B-B14F-4D97-AF65-F5344CB8AC3E}">
        <p14:creationId xmlns:p14="http://schemas.microsoft.com/office/powerpoint/2010/main" val="1960204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704119" y="609600"/>
            <a:ext cx="3735762"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Working Environment</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99F59B-52A6-558B-DC4C-9FA12422D0B3}"/>
              </a:ext>
            </a:extLst>
          </p:cNvPr>
          <p:cNvSpPr txBox="1"/>
          <p:nvPr/>
        </p:nvSpPr>
        <p:spPr>
          <a:xfrm>
            <a:off x="214312" y="1344432"/>
            <a:ext cx="8618792" cy="3416320"/>
          </a:xfrm>
          <a:prstGeom prst="rect">
            <a:avLst/>
          </a:prstGeom>
          <a:noFill/>
        </p:spPr>
        <p:txBody>
          <a:bodyPr wrap="square">
            <a:spAutoFit/>
          </a:bodyPr>
          <a:lstStyle/>
          <a:p>
            <a:r>
              <a:rPr lang="en-US" sz="1800" b="1" dirty="0"/>
              <a:t>Hardware:</a:t>
            </a:r>
          </a:p>
          <a:p>
            <a:endParaRPr lang="en-US" sz="1800" b="1" dirty="0"/>
          </a:p>
          <a:p>
            <a:pPr marL="228600" indent="-228600">
              <a:buFont typeface=""/>
              <a:buChar char="•"/>
            </a:pPr>
            <a:r>
              <a:rPr lang="en-US" sz="1800" dirty="0">
                <a:latin typeface="Times New Roman" panose="02020603050405020304" pitchFamily="18" charset="0"/>
                <a:cs typeface="Times New Roman" panose="02020603050405020304" pitchFamily="18" charset="0"/>
              </a:rPr>
              <a:t>RTX 3050 GPU</a:t>
            </a:r>
          </a:p>
          <a:p>
            <a:pPr marL="228600" indent="-228600">
              <a:buFont typeface=""/>
              <a:buChar char="•"/>
            </a:pPr>
            <a:r>
              <a:rPr lang="en-US" sz="1800" dirty="0">
                <a:latin typeface="Times New Roman" panose="02020603050405020304" pitchFamily="18" charset="0"/>
                <a:cs typeface="Times New Roman" panose="02020603050405020304" pitchFamily="18" charset="0"/>
              </a:rPr>
              <a:t>16GB RAM</a:t>
            </a:r>
          </a:p>
          <a:p>
            <a:pPr marL="228600" indent="-228600">
              <a:buFont typeface=""/>
              <a:buChar char="•"/>
            </a:pPr>
            <a:r>
              <a:rPr lang="en-US" sz="1800" dirty="0">
                <a:latin typeface="Times New Roman" panose="02020603050405020304" pitchFamily="18" charset="0"/>
                <a:cs typeface="Times New Roman" panose="02020603050405020304" pitchFamily="18" charset="0"/>
              </a:rPr>
              <a:t>Windows 11</a:t>
            </a:r>
          </a:p>
          <a:p>
            <a:endParaRPr lang="en-US" sz="1800" b="1" dirty="0"/>
          </a:p>
          <a:p>
            <a:r>
              <a:rPr lang="en-US" sz="1800" b="1" dirty="0"/>
              <a:t>Software:</a:t>
            </a:r>
          </a:p>
          <a:p>
            <a:endParaRPr lang="en-US" sz="1800" dirty="0"/>
          </a:p>
          <a:p>
            <a:pPr marL="228600" indent="-228600">
              <a:buFont typeface=""/>
              <a:buChar char="•"/>
            </a:pPr>
            <a:r>
              <a:rPr lang="en-US" sz="1800" dirty="0">
                <a:latin typeface="Times New Roman" panose="02020603050405020304" pitchFamily="18" charset="0"/>
                <a:cs typeface="Times New Roman" panose="02020603050405020304" pitchFamily="18" charset="0"/>
              </a:rPr>
              <a:t>Python</a:t>
            </a:r>
          </a:p>
          <a:p>
            <a:pPr marL="228600" indent="-228600">
              <a:buFont typeface=""/>
              <a:buChar char="•"/>
            </a:pPr>
            <a:r>
              <a:rPr lang="en-US" sz="1800" dirty="0">
                <a:latin typeface="Times New Roman" panose="02020603050405020304" pitchFamily="18" charset="0"/>
                <a:cs typeface="Times New Roman" panose="02020603050405020304" pitchFamily="18" charset="0"/>
              </a:rPr>
              <a:t>TensorFlow / </a:t>
            </a:r>
            <a:r>
              <a:rPr lang="en-US" sz="1800" dirty="0" err="1">
                <a:latin typeface="Times New Roman" panose="02020603050405020304" pitchFamily="18" charset="0"/>
                <a:cs typeface="Times New Roman" panose="02020603050405020304" pitchFamily="18" charset="0"/>
              </a:rPr>
              <a:t>PyTorch</a:t>
            </a:r>
            <a:endParaRPr lang="en-US" sz="1800" dirty="0">
              <a:latin typeface="Times New Roman" panose="02020603050405020304" pitchFamily="18" charset="0"/>
              <a:cs typeface="Times New Roman" panose="02020603050405020304" pitchFamily="18" charset="0"/>
            </a:endParaRPr>
          </a:p>
          <a:p>
            <a:pPr marL="228600" indent="-228600">
              <a:buFont typeface=""/>
              <a:buChar char="•"/>
            </a:pPr>
            <a:r>
              <a:rPr lang="en-US" sz="1800" dirty="0">
                <a:latin typeface="Times New Roman" panose="02020603050405020304" pitchFamily="18" charset="0"/>
                <a:cs typeface="Times New Roman" panose="02020603050405020304" pitchFamily="18" charset="0"/>
              </a:rPr>
              <a:t>Open CV </a:t>
            </a:r>
          </a:p>
          <a:p>
            <a:pPr marL="228600" indent="-228600">
              <a:buFont typeface=""/>
              <a:buChar char="•"/>
            </a:pPr>
            <a:r>
              <a:rPr lang="en-US" sz="1800" dirty="0">
                <a:latin typeface="Times New Roman" panose="02020603050405020304" pitchFamily="18" charset="0"/>
                <a:cs typeface="Times New Roman" panose="02020603050405020304" pitchFamily="18" charset="0"/>
              </a:rPr>
              <a:t>VS Code</a:t>
            </a:r>
          </a:p>
        </p:txBody>
      </p:sp>
    </p:spTree>
    <p:extLst>
      <p:ext uri="{BB962C8B-B14F-4D97-AF65-F5344CB8AC3E}">
        <p14:creationId xmlns:p14="http://schemas.microsoft.com/office/powerpoint/2010/main" val="2371701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4BECCA1-881D-A186-874B-4731943314F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42294BF6-CD67-C62F-0027-821997E5BF2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0224B115-BD5E-7238-D3B9-16DE2ADB5900}"/>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9B375CD7-B96D-C942-49F1-A5A04951CF46}"/>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204153D-7653-76AB-35C1-611F9F04DDB1}"/>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A1B13B85-3A19-7035-528B-6FAB021A541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68D2253-340E-FA52-811F-7632730B20E2}"/>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C3D57369-E647-29BE-7DE2-7D7300A21D7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A6CD07FC-4915-E5F4-2F5A-4E2179D1112C}"/>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516851A-7261-A1A1-0FE4-76DBA67D94F8}"/>
              </a:ext>
            </a:extLst>
          </p:cNvPr>
          <p:cNvSpPr txBox="1"/>
          <p:nvPr/>
        </p:nvSpPr>
        <p:spPr>
          <a:xfrm>
            <a:off x="3427311" y="609600"/>
            <a:ext cx="2289379"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Social Impact</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93191AFA-6D9D-A8C2-7BF5-8AF42716C714}"/>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EDA893E-7FE6-CF5C-0B7C-83709E006AC9}"/>
              </a:ext>
            </a:extLst>
          </p:cNvPr>
          <p:cNvSpPr txBox="1"/>
          <p:nvPr/>
        </p:nvSpPr>
        <p:spPr>
          <a:xfrm>
            <a:off x="214312" y="1344432"/>
            <a:ext cx="8618792" cy="5095369"/>
          </a:xfrm>
          <a:prstGeom prst="rect">
            <a:avLst/>
          </a:prstGeom>
          <a:noFill/>
        </p:spPr>
        <p:txBody>
          <a:bodyPr wrap="square">
            <a:spAutoFit/>
          </a:bodyPr>
          <a:lstStyle/>
          <a:p>
            <a:r>
              <a:rPr lang="en-US" sz="1800" b="1" dirty="0"/>
              <a:t>Improvement in Road Safety:</a:t>
            </a:r>
            <a:endParaRPr lang="en-IN" sz="1800" dirty="0"/>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proposed pothole detection system has a significant positive impact on road safety by enabling early identification and timely repair of road surface damages. Potholes are one of the major causes of road accidents, especially for two-wheelers and small vehicles, as they can lead to sudden loss of control, vehicle damage, or even fatal injuries. </a:t>
            </a:r>
          </a:p>
          <a:p>
            <a:pPr marL="228600" indent="-228600">
              <a:buFont typeface=""/>
              <a:buChar char="•"/>
            </a:pPr>
            <a:endParaRPr lang="en-US" sz="1800" b="1" dirty="0"/>
          </a:p>
          <a:p>
            <a:r>
              <a:rPr lang="en-US" sz="1800" b="1" dirty="0"/>
              <a:t>Efficient Road Maintenance and Cost Reduction:</a:t>
            </a:r>
            <a:endParaRPr lang="en-IN" sz="1800" dirty="0"/>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Another important social benefit of the system is its ability to improve the efficiency of road maintenance operations. Traditional methods of road inspection are manual, </a:t>
            </a:r>
            <a:r>
              <a:rPr lang="en-US" sz="1600" dirty="0" err="1">
                <a:latin typeface="Times New Roman" panose="02020603050405020304" pitchFamily="18" charset="0"/>
                <a:cs typeface="Times New Roman" panose="02020603050405020304" pitchFamily="18" charset="0"/>
              </a:rPr>
              <a:t>timeconsuming</a:t>
            </a:r>
            <a:r>
              <a:rPr lang="en-US" sz="1600" dirty="0">
                <a:latin typeface="Times New Roman" panose="02020603050405020304" pitchFamily="18" charset="0"/>
                <a:cs typeface="Times New Roman" panose="02020603050405020304" pitchFamily="18" charset="0"/>
              </a:rPr>
              <a:t>, and often inefficient, leading to delayed repairs and increased maintenance costs.</a:t>
            </a:r>
          </a:p>
          <a:p>
            <a:endParaRPr lang="en-US" sz="1600" dirty="0"/>
          </a:p>
          <a:p>
            <a:r>
              <a:rPr lang="en-US" sz="1800" b="1" dirty="0"/>
              <a:t>Support for Smart City Development:</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integration of the pothole detection system with modern technologies such as IoT and cloud computing supports the development of smart cities. By enabling real-time data collection and analysis.</a:t>
            </a:r>
            <a:endParaRPr lang="en-US" sz="1600" dirty="0"/>
          </a:p>
        </p:txBody>
      </p:sp>
    </p:spTree>
    <p:extLst>
      <p:ext uri="{BB962C8B-B14F-4D97-AF65-F5344CB8AC3E}">
        <p14:creationId xmlns:p14="http://schemas.microsoft.com/office/powerpoint/2010/main" val="1812688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FC71316-AE15-087F-5805-41B071B4CF9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08058F3E-0D58-21F7-D346-60808BB8C14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EF82EF62-77F7-0508-D0E1-12D3060CB4F6}"/>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42D8D37F-D5A3-DEA4-1F50-C03799FA8718}"/>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4C219E20-DF8B-D704-B76C-744CAD66EF37}"/>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784925D4-1CF5-0796-D169-C18B876694C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3E07CF44-33DD-4A83-7C0B-217C5A3EFF6E}"/>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08D7D40-6993-1AF8-8541-B56973E7581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FC80E3D-3C88-A5EB-726D-1BF90228A73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802DCF3-77FD-3E52-B0A8-1EFE0092FB86}"/>
              </a:ext>
            </a:extLst>
          </p:cNvPr>
          <p:cNvSpPr txBox="1"/>
          <p:nvPr/>
        </p:nvSpPr>
        <p:spPr>
          <a:xfrm>
            <a:off x="2847827" y="609600"/>
            <a:ext cx="3448351"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Future Enhancement</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E4751124-9A9C-2629-0D93-75BDDDD5A34C}"/>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7948F0-25E5-3BD6-0B9C-B126309D6EF1}"/>
              </a:ext>
            </a:extLst>
          </p:cNvPr>
          <p:cNvSpPr txBox="1"/>
          <p:nvPr/>
        </p:nvSpPr>
        <p:spPr>
          <a:xfrm>
            <a:off x="214312" y="1344432"/>
            <a:ext cx="8618792" cy="5509200"/>
          </a:xfrm>
          <a:prstGeom prst="rect">
            <a:avLst/>
          </a:prstGeom>
          <a:noFill/>
        </p:spPr>
        <p:txBody>
          <a:bodyPr wrap="square">
            <a:spAutoFit/>
          </a:bodyPr>
          <a:lstStyle/>
          <a:p>
            <a:r>
              <a:rPr lang="en-US" sz="1800" b="1" dirty="0"/>
              <a:t>Real-Time Implementation and Edge Deployment:</a:t>
            </a:r>
          </a:p>
          <a:p>
            <a:pPr marL="228600" indent="-228600">
              <a:lnSpc>
                <a:spcPct val="150000"/>
              </a:lnSpc>
              <a:buFont typeface=""/>
              <a:buChar char="•"/>
            </a:pPr>
            <a:r>
              <a:rPr lang="en-US" sz="1600" dirty="0">
                <a:latin typeface="Times New Roman" panose="02020603050405020304" pitchFamily="18" charset="0"/>
                <a:cs typeface="Times New Roman" panose="02020603050405020304" pitchFamily="18" charset="0"/>
              </a:rPr>
              <a:t>One of the major future enhancements of the proposed pothole detection system is its deployment in real-time environments using edge devices such as mobile phones, embedded systems, or vehicle-mounted cameras. </a:t>
            </a:r>
          </a:p>
          <a:p>
            <a:pPr marL="228600" indent="-228600">
              <a:buFont typeface=""/>
              <a:buChar char="•"/>
            </a:pPr>
            <a:endParaRPr lang="en-US" sz="1800" b="1" dirty="0"/>
          </a:p>
          <a:p>
            <a:r>
              <a:rPr lang="en-US" sz="1800" b="1" dirty="0"/>
              <a:t>Dataset Expansion and Generalization:</a:t>
            </a:r>
            <a:endParaRPr lang="en-US" sz="1800" dirty="0"/>
          </a:p>
          <a:p>
            <a:pPr marL="228600" indent="-228600">
              <a:lnSpc>
                <a:spcPct val="150000"/>
              </a:lnSpc>
              <a:buFont typeface=""/>
              <a:buChar char="•"/>
            </a:pPr>
            <a:r>
              <a:rPr lang="en-US" sz="1600" dirty="0">
                <a:latin typeface="Times New Roman" panose="02020603050405020304" pitchFamily="18" charset="0"/>
                <a:cs typeface="Times New Roman" panose="02020603050405020304" pitchFamily="18" charset="0"/>
              </a:rPr>
              <a:t>Another important enhancement involves expanding the dataset used for training the model. The current system may be limited by the diversity of training data, which can affect its ability to generalize to new environments. </a:t>
            </a:r>
          </a:p>
          <a:p>
            <a:pPr marL="228600" indent="-228600">
              <a:lnSpc>
                <a:spcPct val="150000"/>
              </a:lnSpc>
              <a:buFont typeface=""/>
              <a:buChar char="•"/>
            </a:pPr>
            <a:endParaRPr lang="en-US" sz="1600" dirty="0"/>
          </a:p>
          <a:p>
            <a:r>
              <a:rPr lang="en-US" sz="1800" b="1" dirty="0"/>
              <a:t>Multi-Damage Detection System:</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current system is primarily focused on detecting potholes; however, road surfaces often suffer from multiple types of damage such as cracks, patches, and surface wear. A future enhancement would be to extend the system to detect and classify multiple categories of road damage within a single framework. </a:t>
            </a:r>
            <a:endParaRPr lang="en-IN" sz="1600" dirty="0">
              <a:latin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728981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20A42316-79DE-50FA-A110-1555200ED4AE}"/>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36219B06-AF57-D5FF-D5D0-3826E9B9DD4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294F71F6-B618-4E5C-68E7-E86AFD6D807C}"/>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A693258-B1F5-45C5-E649-6D5FAF34E92C}"/>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A1315D22-28AC-4F8F-31A7-64FFFDCFB09A}"/>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84C1E4D-C041-8DB6-2127-56D46B171178}"/>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EC1A0E1F-6387-7F24-125D-73C5C745DCD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1AA2F950-A3D3-E477-6719-8999A32F237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E641622-753F-54B7-6A2F-51799140E36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22F64F9-558D-58B5-C991-5C8FBD9A5629}"/>
              </a:ext>
            </a:extLst>
          </p:cNvPr>
          <p:cNvSpPr txBox="1"/>
          <p:nvPr/>
        </p:nvSpPr>
        <p:spPr>
          <a:xfrm>
            <a:off x="2847827" y="609600"/>
            <a:ext cx="3448351" cy="523180"/>
          </a:xfrm>
          <a:prstGeom prst="rect">
            <a:avLst/>
          </a:prstGeom>
          <a:noFill/>
          <a:ln>
            <a:noFill/>
          </a:ln>
        </p:spPr>
        <p:txBody>
          <a:bodyPr spcFirstLastPara="1" wrap="non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Future Enhancement</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6DFDBFEB-92ED-D780-F186-30D22B23D223}"/>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27BC9C8-56C1-AC9B-E615-3B4CF46C2E12}"/>
              </a:ext>
            </a:extLst>
          </p:cNvPr>
          <p:cNvSpPr txBox="1"/>
          <p:nvPr/>
        </p:nvSpPr>
        <p:spPr>
          <a:xfrm>
            <a:off x="214312" y="1344432"/>
            <a:ext cx="8618792" cy="3724096"/>
          </a:xfrm>
          <a:prstGeom prst="rect">
            <a:avLst/>
          </a:prstGeom>
          <a:noFill/>
        </p:spPr>
        <p:txBody>
          <a:bodyPr wrap="square">
            <a:spAutoFit/>
          </a:bodyPr>
          <a:lstStyle/>
          <a:p>
            <a:r>
              <a:rPr lang="en-US" sz="1800" b="1" dirty="0"/>
              <a:t>Integration with IoT and Smart City Systems: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Integrating the proposed system with Internet of Things (IoT) technology and smart city infrastructure can significantly enhance its practical usability. In this approach, detected pothole data can be transmitted in real time to a centralized cloud platform using connected devices. </a:t>
            </a:r>
          </a:p>
          <a:p>
            <a:pPr marL="285750" indent="-285750">
              <a:buFont typeface="Arial" panose="020B0604020202020204" pitchFamily="34" charset="0"/>
              <a:buChar char="•"/>
            </a:pPr>
            <a:endParaRPr lang="en-US" sz="1600" b="1" dirty="0"/>
          </a:p>
          <a:p>
            <a:r>
              <a:rPr lang="en-US" sz="1800" b="1" dirty="0"/>
              <a:t>Advanced Analytics and Decision Support System</a:t>
            </a:r>
            <a:endParaRPr lang="en-IN" sz="1800" dirty="0"/>
          </a:p>
          <a:p>
            <a:pPr marL="228600" indent="-228600">
              <a:lnSpc>
                <a:spcPct val="150000"/>
              </a:lnSpc>
              <a:buFont typeface=""/>
              <a:buChar char="•"/>
            </a:pPr>
            <a:r>
              <a:rPr lang="en-US" sz="1600" dirty="0">
                <a:latin typeface="Times New Roman" panose="02020603050405020304" pitchFamily="18" charset="0"/>
                <a:cs typeface="Times New Roman" panose="02020603050405020304" pitchFamily="18" charset="0"/>
              </a:rPr>
              <a:t>Another promising enhancement is the development of an advanced analytics and decision support system based on the output of the pothole detection model. Instead of simply identifying potholes, the system can be extended to analyze patterns such as frequency of occurrence, severity levels, and high-risk zones. </a:t>
            </a:r>
          </a:p>
          <a:p>
            <a:endParaRPr lang="en-US" sz="1600" dirty="0"/>
          </a:p>
        </p:txBody>
      </p:sp>
    </p:spTree>
    <p:extLst>
      <p:ext uri="{BB962C8B-B14F-4D97-AF65-F5344CB8AC3E}">
        <p14:creationId xmlns:p14="http://schemas.microsoft.com/office/powerpoint/2010/main" val="1175221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C82EA5B-EADE-FEE1-5E50-AC6FB2037D0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45C32A4-DDB3-FCDD-ECB3-9CCAC77E97A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EAD4594-9075-C592-8EAF-53A5BAB60D13}"/>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B79B783-AC33-22AC-E00C-36931E4C850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B0B860D-72EB-5CCA-695C-4A8DEBA0220C}"/>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1F72C9D-6D49-224A-2065-38A5850F50D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7C909A0-37E1-3E7B-2EF8-8F0DBC5B8429}"/>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BB2DC3E-B25F-34B4-8452-3AD27864FF4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F0CA23CB-3DA7-6289-8256-71932547B0E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3A91FC4-B003-31AC-2C81-7EACF5F9D1B8}"/>
              </a:ext>
            </a:extLst>
          </p:cNvPr>
          <p:cNvSpPr txBox="1"/>
          <p:nvPr/>
        </p:nvSpPr>
        <p:spPr>
          <a:xfrm>
            <a:off x="3501051" y="609600"/>
            <a:ext cx="2141903" cy="523180"/>
          </a:xfrm>
          <a:prstGeom prst="rect">
            <a:avLst/>
          </a:prstGeom>
          <a:noFill/>
          <a:ln>
            <a:noFill/>
          </a:ln>
        </p:spPr>
        <p:txBody>
          <a:bodyPr spcFirstLastPara="1" wrap="none" lIns="91425" tIns="45700" rIns="91425" bIns="45700" anchor="t" anchorCtr="0">
            <a:spAutoFit/>
          </a:bodyPr>
          <a:lstStyle/>
          <a:p>
            <a:pPr lvl="0" algn="ctr">
              <a:buClr>
                <a:schemeClr val="dk1"/>
              </a:buClr>
              <a:buSzPts val="3200"/>
            </a:pPr>
            <a:r>
              <a:rPr lang="en-US" sz="2800" b="1" dirty="0"/>
              <a:t>Conclusion</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382D3ACF-E5AC-8481-346B-2D4790C5BF07}"/>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C69FFD3-1178-B4D6-8027-765D11D5918F}"/>
              </a:ext>
            </a:extLst>
          </p:cNvPr>
          <p:cNvSpPr txBox="1"/>
          <p:nvPr/>
        </p:nvSpPr>
        <p:spPr>
          <a:xfrm>
            <a:off x="214312" y="1344432"/>
            <a:ext cx="8618792" cy="36625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proposed pothole detection and segmentation system presents a robust and efficient solution for identifying road surface damages using advanced deep learning techniques. By integrating a multi-stage pipeline consisting of preprocessing, </a:t>
            </a:r>
            <a:r>
              <a:rPr lang="en-US" sz="1600" dirty="0" err="1">
                <a:latin typeface="Times New Roman" panose="02020603050405020304" pitchFamily="18" charset="0"/>
                <a:cs typeface="Times New Roman" panose="02020603050405020304" pitchFamily="18" charset="0"/>
              </a:rPr>
              <a:t>CMSegNetbased</a:t>
            </a:r>
            <a:r>
              <a:rPr lang="en-US" sz="1600" dirty="0">
                <a:latin typeface="Times New Roman" panose="02020603050405020304" pitchFamily="18" charset="0"/>
                <a:cs typeface="Times New Roman" panose="02020603050405020304" pitchFamily="18" charset="0"/>
              </a:rPr>
              <a:t> segmentation, auxiliary prediction, and shadow suppression through Shadow </a:t>
            </a:r>
            <a:r>
              <a:rPr lang="en-US" sz="1600" dirty="0" err="1">
                <a:latin typeface="Times New Roman" panose="02020603050405020304" pitchFamily="18" charset="0"/>
                <a:cs typeface="Times New Roman" panose="02020603050405020304" pitchFamily="18" charset="0"/>
              </a:rPr>
              <a:t>SegNet</a:t>
            </a:r>
            <a:r>
              <a:rPr lang="en-US" sz="1600" dirty="0">
                <a:latin typeface="Times New Roman" panose="02020603050405020304" pitchFamily="18" charset="0"/>
                <a:cs typeface="Times New Roman" panose="02020603050405020304" pitchFamily="18" charset="0"/>
              </a:rPr>
              <a:t>, the system effectively addresses key challenges present in real-world environments. The incorporation of perspective transformation ensures geometric consistency, while the dual-branch architecture enhances feature extraction and improves segmentation accuracy. The auxiliary prediction mechanism further strengthens the learning process by providing intermediate supervision, enabling the model to capture fine-grained details and improve boundary detection.</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732429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3086203" y="584565"/>
            <a:ext cx="2971594" cy="523180"/>
          </a:xfrm>
          <a:prstGeom prst="rect">
            <a:avLst/>
          </a:prstGeom>
          <a:noFill/>
          <a:ln>
            <a:noFill/>
          </a:ln>
        </p:spPr>
        <p:txBody>
          <a:bodyPr spcFirstLastPara="1" wrap="non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Times New Roman"/>
              <a:buNone/>
            </a:pPr>
            <a:r>
              <a:rPr lang="en-US" sz="2400" b="1" i="0" u="none" strike="noStrike" cap="none" dirty="0">
                <a:solidFill>
                  <a:schemeClr val="dk1"/>
                </a:solidFill>
                <a:latin typeface="Times New Roman"/>
                <a:ea typeface="Times New Roman"/>
                <a:cs typeface="Times New Roman"/>
                <a:sym typeface="Times New Roman"/>
              </a:rPr>
              <a:t>REFERENCES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584565"/>
            <a:ext cx="8733745" cy="565272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ct val="0"/>
              </a:spcBef>
              <a:tabLst>
                <a:tab pos="520700" algn="l"/>
              </a:tabLst>
            </a:pPr>
            <a:endParaRPr lang="en-US" altLang="en-US" sz="2400" dirty="0">
              <a:latin typeface="Times New Roman" panose="02020603050405020304" pitchFamily="18" charset="0"/>
              <a:cs typeface="Times New Roman" panose="02020603050405020304" pitchFamily="18" charset="0"/>
            </a:endParaRPr>
          </a:p>
          <a:p>
            <a:pPr>
              <a:spcBef>
                <a:spcPct val="0"/>
              </a:spcBef>
              <a:tabLst>
                <a:tab pos="520700" algn="l"/>
              </a:tabLst>
            </a:pPr>
            <a:r>
              <a:rPr lang="en-IN" sz="1800" b="1" dirty="0"/>
              <a:t>Base Paper (Hyperlink:</a:t>
            </a:r>
            <a:r>
              <a:rPr lang="en-IN" sz="1800" dirty="0"/>
              <a:t> </a:t>
            </a:r>
            <a:r>
              <a:rPr lang="en-IN" sz="1600" dirty="0"/>
              <a:t>IEEE Xplore - SDLMA-IITS</a:t>
            </a:r>
            <a:r>
              <a:rPr lang="en-IN" sz="1600" b="1" dirty="0"/>
              <a:t>)</a:t>
            </a:r>
          </a:p>
          <a:p>
            <a:pPr>
              <a:spcBef>
                <a:spcPct val="0"/>
              </a:spcBef>
              <a:tabLst>
                <a:tab pos="520700" algn="l"/>
              </a:tabLst>
            </a:pPr>
            <a:endParaRPr lang="en-IN" altLang="en-US" sz="1600" b="1" dirty="0">
              <a:latin typeface="+mj-lt"/>
              <a:cs typeface="Times New Roman" panose="02020603050405020304" pitchFamily="18" charset="0"/>
            </a:endParaRPr>
          </a:p>
          <a:p>
            <a:pPr>
              <a:spcBef>
                <a:spcPct val="0"/>
              </a:spcBef>
              <a:tabLst>
                <a:tab pos="520700" algn="l"/>
              </a:tabLst>
            </a:pPr>
            <a:r>
              <a:rPr lang="en-IN" sz="1800" b="1" dirty="0"/>
              <a:t>Citation:</a:t>
            </a:r>
          </a:p>
          <a:p>
            <a:pPr>
              <a:spcBef>
                <a:spcPct val="0"/>
              </a:spcBef>
              <a:tabLst>
                <a:tab pos="520700" algn="l"/>
              </a:tabLst>
            </a:pPr>
            <a:endParaRPr lang="en-IN" sz="1800" b="1" dirty="0"/>
          </a:p>
          <a:p>
            <a:pPr marL="285750" indent="-285750">
              <a:lnSpc>
                <a:spcPct val="150000"/>
              </a:lnSpc>
              <a:spcBef>
                <a:spcPct val="0"/>
              </a:spcBef>
              <a:buFont typeface="Arial" panose="020B0604020202020204" pitchFamily="34" charset="0"/>
              <a:buChar char="•"/>
              <a:tabLst>
                <a:tab pos="520700" algn="l"/>
              </a:tabLst>
            </a:pPr>
            <a:r>
              <a:rPr lang="en-IN" sz="1600" dirty="0">
                <a:solidFill>
                  <a:schemeClr val="tx1"/>
                </a:solidFill>
                <a:latin typeface="Times New Roman" panose="02020603050405020304" pitchFamily="18" charset="0"/>
                <a:cs typeface="Times New Roman" panose="02020603050405020304" pitchFamily="18" charset="0"/>
              </a:rPr>
              <a:t>Mohammad </a:t>
            </a:r>
            <a:r>
              <a:rPr lang="en-IN" sz="1600" dirty="0" err="1">
                <a:solidFill>
                  <a:schemeClr val="tx1"/>
                </a:solidFill>
                <a:latin typeface="Times New Roman" panose="02020603050405020304" pitchFamily="18" charset="0"/>
                <a:cs typeface="Times New Roman" panose="02020603050405020304" pitchFamily="18" charset="0"/>
              </a:rPr>
              <a:t>Wazid</a:t>
            </a:r>
            <a:r>
              <a:rPr lang="en-IN" sz="1600" dirty="0">
                <a:solidFill>
                  <a:schemeClr val="tx1"/>
                </a:solidFill>
                <a:latin typeface="Times New Roman" panose="02020603050405020304" pitchFamily="18" charset="0"/>
                <a:cs typeface="Times New Roman" panose="02020603050405020304" pitchFamily="18" charset="0"/>
              </a:rPr>
              <a:t>, Jaskaran Singh, Charvi Pandey, R. Simon Sherratt, Ashok Kumar Das, Debasis Giri and </a:t>
            </a:r>
            <a:r>
              <a:rPr lang="en-IN" sz="1600" dirty="0" err="1">
                <a:solidFill>
                  <a:schemeClr val="tx1"/>
                </a:solidFill>
                <a:latin typeface="Times New Roman" panose="02020603050405020304" pitchFamily="18" charset="0"/>
                <a:cs typeface="Times New Roman" panose="02020603050405020304" pitchFamily="18" charset="0"/>
              </a:rPr>
              <a:t>Youngho</a:t>
            </a:r>
            <a:r>
              <a:rPr lang="en-IN" sz="1600" dirty="0">
                <a:solidFill>
                  <a:schemeClr val="tx1"/>
                </a:solidFill>
                <a:latin typeface="Times New Roman" panose="02020603050405020304" pitchFamily="18" charset="0"/>
                <a:cs typeface="Times New Roman" panose="02020603050405020304" pitchFamily="18" charset="0"/>
              </a:rPr>
              <a:t> Park, “Explainable Deep Learning-Enabled Malware Attack Detection for IoT-Enabled Intelligent Transportation Systems”, IEEE Transactions on Intelligent Transportation Systems, Vol. 26, issue no.: 5, pp.: 7231 – 7244, 2025.</a:t>
            </a:r>
          </a:p>
          <a:p>
            <a:pPr>
              <a:spcBef>
                <a:spcPct val="0"/>
              </a:spcBef>
              <a:tabLst>
                <a:tab pos="520700" algn="l"/>
              </a:tabLst>
            </a:pPr>
            <a:r>
              <a:rPr lang="en-US" altLang="en-US" sz="1800" b="1" dirty="0">
                <a:latin typeface="+mj-lt"/>
                <a:cs typeface="Times New Roman" panose="02020603050405020304" pitchFamily="18" charset="0"/>
              </a:rPr>
              <a:t>Reference Papers</a:t>
            </a:r>
          </a:p>
          <a:p>
            <a:pPr>
              <a:lnSpc>
                <a:spcPct val="150000"/>
              </a:lnSpc>
              <a:spcBef>
                <a:spcPct val="0"/>
              </a:spcBef>
              <a:tabLst>
                <a:tab pos="520700" algn="l"/>
              </a:tabLst>
            </a:pPr>
            <a:r>
              <a:rPr lang="en-US" altLang="en-US" sz="1800" b="1" dirty="0">
                <a:latin typeface="+mj-lt"/>
                <a:cs typeface="Times New Roman" panose="02020603050405020304" pitchFamily="18" charset="0"/>
              </a:rPr>
              <a:t>	</a:t>
            </a:r>
            <a:r>
              <a:rPr lang="en-US" altLang="en-US" sz="1600" dirty="0">
                <a:solidFill>
                  <a:schemeClr val="tx1"/>
                </a:solidFill>
                <a:latin typeface="Times New Roman" panose="02020603050405020304" pitchFamily="18" charset="0"/>
                <a:cs typeface="Times New Roman" panose="02020603050405020304" pitchFamily="18" charset="0"/>
              </a:rPr>
              <a:t>1. </a:t>
            </a:r>
            <a:r>
              <a:rPr lang="en-IN" sz="1600" dirty="0">
                <a:solidFill>
                  <a:schemeClr val="tx1"/>
                </a:solidFill>
                <a:latin typeface="Times New Roman" panose="02020603050405020304" pitchFamily="18" charset="0"/>
                <a:cs typeface="Times New Roman" panose="02020603050405020304" pitchFamily="18" charset="0"/>
              </a:rPr>
              <a:t>Gadekar et al., "Sonar-assisted YOLO model for weather-resistant pothole identification," </a:t>
            </a:r>
            <a:r>
              <a:rPr lang="en-IN" sz="1600" i="1" dirty="0">
                <a:solidFill>
                  <a:schemeClr val="tx1"/>
                </a:solidFill>
                <a:latin typeface="Times New Roman" panose="02020603050405020304" pitchFamily="18" charset="0"/>
                <a:cs typeface="Times New Roman" panose="02020603050405020304" pitchFamily="18" charset="0"/>
              </a:rPr>
              <a:t>IJSART</a:t>
            </a:r>
            <a:r>
              <a:rPr lang="en-IN" sz="1600" dirty="0">
                <a:solidFill>
                  <a:schemeClr val="tx1"/>
                </a:solidFill>
                <a:latin typeface="Times New Roman" panose="02020603050405020304" pitchFamily="18" charset="0"/>
                <a:cs typeface="Times New Roman" panose="02020603050405020304" pitchFamily="18" charset="0"/>
              </a:rPr>
              <a:t>, 2024</a:t>
            </a:r>
            <a:endParaRPr lang="en-US" altLang="en-US" sz="1600" dirty="0">
              <a:solidFill>
                <a:schemeClr val="tx1"/>
              </a:solidFill>
              <a:latin typeface="Times New Roman" panose="02020603050405020304" pitchFamily="18" charset="0"/>
              <a:cs typeface="Times New Roman" panose="02020603050405020304" pitchFamily="18" charset="0"/>
            </a:endParaRPr>
          </a:p>
          <a:p>
            <a:pPr>
              <a:lnSpc>
                <a:spcPct val="150000"/>
              </a:lnSpc>
              <a:spcBef>
                <a:spcPct val="0"/>
              </a:spcBef>
              <a:tabLst>
                <a:tab pos="520700" algn="l"/>
              </a:tabLst>
            </a:pPr>
            <a:r>
              <a:rPr lang="en-US" altLang="en-US" sz="1600" dirty="0">
                <a:solidFill>
                  <a:schemeClr val="tx1"/>
                </a:solidFill>
                <a:latin typeface="Times New Roman" panose="02020603050405020304" pitchFamily="18" charset="0"/>
                <a:cs typeface="Times New Roman" panose="02020603050405020304" pitchFamily="18" charset="0"/>
              </a:rPr>
              <a:t>	2. </a:t>
            </a:r>
            <a:r>
              <a:rPr lang="en-US" sz="1600" dirty="0">
                <a:solidFill>
                  <a:schemeClr val="tx1"/>
                </a:solidFill>
                <a:latin typeface="Times New Roman" panose="02020603050405020304" pitchFamily="18" charset="0"/>
                <a:cs typeface="Times New Roman" panose="02020603050405020304" pitchFamily="18" charset="0"/>
              </a:rPr>
              <a:t>Lakshminarayanan et al., "IoT-based reporting for real-time pothole identification using CNN," </a:t>
            </a:r>
            <a:r>
              <a:rPr lang="en-US" sz="1600" i="1" dirty="0">
                <a:solidFill>
                  <a:schemeClr val="tx1"/>
                </a:solidFill>
                <a:latin typeface="Times New Roman" panose="02020603050405020304" pitchFamily="18" charset="0"/>
                <a:cs typeface="Times New Roman" panose="02020603050405020304" pitchFamily="18" charset="0"/>
              </a:rPr>
              <a:t>IJSART</a:t>
            </a:r>
            <a:r>
              <a:rPr lang="en-US" sz="1600" dirty="0">
                <a:solidFill>
                  <a:schemeClr val="tx1"/>
                </a:solidFill>
                <a:latin typeface="Times New Roman" panose="02020603050405020304" pitchFamily="18" charset="0"/>
                <a:cs typeface="Times New Roman" panose="02020603050405020304" pitchFamily="18" charset="0"/>
              </a:rPr>
              <a:t>, 2024.</a:t>
            </a:r>
          </a:p>
          <a:p>
            <a:pPr>
              <a:lnSpc>
                <a:spcPct val="150000"/>
              </a:lnSpc>
              <a:spcBef>
                <a:spcPct val="0"/>
              </a:spcBef>
              <a:tabLst>
                <a:tab pos="520700" algn="l"/>
              </a:tabLst>
            </a:pPr>
            <a:r>
              <a:rPr lang="en-US" altLang="en-US" sz="1600" dirty="0">
                <a:solidFill>
                  <a:schemeClr val="tx1"/>
                </a:solidFill>
                <a:latin typeface="Times New Roman" panose="02020603050405020304" pitchFamily="18" charset="0"/>
                <a:cs typeface="Times New Roman" panose="02020603050405020304" pitchFamily="18" charset="0"/>
              </a:rPr>
              <a:t>	3. </a:t>
            </a:r>
            <a:r>
              <a:rPr lang="en-IN" sz="1600" dirty="0">
                <a:solidFill>
                  <a:schemeClr val="tx1"/>
                </a:solidFill>
                <a:latin typeface="Times New Roman" panose="02020603050405020304" pitchFamily="18" charset="0"/>
                <a:cs typeface="Times New Roman" panose="02020603050405020304" pitchFamily="18" charset="0"/>
              </a:rPr>
              <a:t>Khan et al., "YOLOv8-based pipeline for pothole detection in autonomous vehicles," </a:t>
            </a:r>
            <a:r>
              <a:rPr lang="en-IN" sz="1600" i="1" dirty="0">
                <a:solidFill>
                  <a:schemeClr val="tx1"/>
                </a:solidFill>
                <a:latin typeface="Times New Roman" panose="02020603050405020304" pitchFamily="18" charset="0"/>
                <a:cs typeface="Times New Roman" panose="02020603050405020304" pitchFamily="18" charset="0"/>
              </a:rPr>
              <a:t>IGI Global</a:t>
            </a:r>
            <a:r>
              <a:rPr lang="en-IN" sz="1600" dirty="0">
                <a:solidFill>
                  <a:schemeClr val="tx1"/>
                </a:solidFill>
                <a:latin typeface="Times New Roman" panose="02020603050405020304" pitchFamily="18" charset="0"/>
                <a:cs typeface="Times New Roman" panose="02020603050405020304" pitchFamily="18" charset="0"/>
              </a:rPr>
              <a:t>, 2024.</a:t>
            </a:r>
            <a:endParaRPr lang="en-US" altLang="en-US" sz="1600" dirty="0">
              <a:solidFill>
                <a:schemeClr val="tx1"/>
              </a:solidFill>
              <a:latin typeface="Times New Roman" panose="02020603050405020304" pitchFamily="18" charset="0"/>
              <a:cs typeface="Times New Roman" panose="02020603050405020304" pitchFamily="18" charset="0"/>
            </a:endParaRPr>
          </a:p>
          <a:p>
            <a:pPr>
              <a:spcBef>
                <a:spcPct val="0"/>
              </a:spcBef>
              <a:tabLst>
                <a:tab pos="520700" algn="l"/>
              </a:tabLst>
            </a:pPr>
            <a:endParaRPr lang="en-US" altLang="en-US" sz="1600" b="1" dirty="0">
              <a:latin typeface="+mj-lt"/>
              <a:cs typeface="Times New Roman" panose="02020603050405020304" pitchFamily="18" charset="0"/>
            </a:endParaRPr>
          </a:p>
          <a:p>
            <a:pPr marL="342900" indent="-342900">
              <a:spcBef>
                <a:spcPct val="0"/>
              </a:spcBef>
              <a:buFont typeface="Arial" panose="020B0604020202020204" pitchFamily="34" charset="0"/>
              <a:buChar char="•"/>
              <a:tabLst>
                <a:tab pos="520700" algn="l"/>
              </a:tabLst>
            </a:pPr>
            <a:endParaRPr lang="en-US" altLang="en-US" sz="2400" b="1" dirty="0">
              <a:latin typeface="Times New Roman" panose="02020603050405020304" pitchFamily="18" charset="0"/>
              <a:cs typeface="Times New Roman" panose="02020603050405020304" pitchFamily="18" charset="0"/>
            </a:endParaRPr>
          </a:p>
          <a:p>
            <a:endParaRPr lang="en-IN" altLang="en-US" sz="1800" b="1" dirty="0">
              <a:latin typeface="Times New Roman" panose="02020603050405020304" pitchFamily="18" charset="0"/>
              <a:cs typeface="Times New Roman" panose="02020603050405020304" pitchFamily="18" charset="0"/>
            </a:endParaRPr>
          </a:p>
          <a:p>
            <a:pPr>
              <a:spcBef>
                <a:spcPct val="0"/>
              </a:spcBef>
              <a:tabLst>
                <a:tab pos="520700" algn="l"/>
              </a:tabLst>
            </a:pPr>
            <a:br>
              <a:rPr lang="en-US" altLang="en-US" sz="1800" dirty="0">
                <a:latin typeface="Times New Roman" panose="02020603050405020304" pitchFamily="18" charset="0"/>
                <a:cs typeface="Times New Roman" panose="02020603050405020304" pitchFamily="18" charset="0"/>
              </a:rPr>
            </a:br>
            <a:endParaRPr lang="en-US" altLang="en-US" sz="18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FA389FC-1495-39C3-D7F0-F505CEE33A5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C324C37-39FD-007E-23F5-B620557FDA68}"/>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BF84BF53-D4B8-99D5-4096-9CFB46AD59C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6FD0E4EA-9961-A900-C8C0-A8BD76B62F8C}"/>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5FC5009-E24F-15E9-7E30-30EDBDB1EF6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C4AEC057-85E9-F4C0-64A5-FAD3B9348F87}"/>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F6EEF77-7AC3-0B93-FEF2-01B3281113B6}"/>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98EC6E3B-9E90-E7BD-6CD8-8DA2550AFD87}"/>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09199186-FB37-FFCC-B56B-027F9FBCBC2B}"/>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FB1E8C8-3132-95D2-368A-0D2A8E2F2604}"/>
              </a:ext>
            </a:extLst>
          </p:cNvPr>
          <p:cNvSpPr txBox="1"/>
          <p:nvPr/>
        </p:nvSpPr>
        <p:spPr>
          <a:xfrm>
            <a:off x="3086203" y="584565"/>
            <a:ext cx="2971594" cy="523180"/>
          </a:xfrm>
          <a:prstGeom prst="rect">
            <a:avLst/>
          </a:prstGeom>
          <a:noFill/>
          <a:ln>
            <a:noFill/>
          </a:ln>
        </p:spPr>
        <p:txBody>
          <a:bodyPr spcFirstLastPara="1" wrap="non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4618C291-698F-5ED3-77B1-FC046B156043}"/>
              </a:ext>
            </a:extLst>
          </p:cNvPr>
          <p:cNvSpPr txBox="1">
            <a:spLocks noChangeArrowheads="1"/>
          </p:cNvSpPr>
          <p:nvPr/>
        </p:nvSpPr>
        <p:spPr>
          <a:xfrm>
            <a:off x="146304" y="716129"/>
            <a:ext cx="8587440" cy="560704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en-US" altLang="en-US" sz="2400" dirty="0">
                <a:latin typeface="Times New Roman" panose="02020603050405020304" pitchFamily="18" charset="0"/>
                <a:cs typeface="Times New Roman" panose="02020603050405020304" pitchFamily="18" charset="0"/>
              </a:rPr>
              <a:t>	</a:t>
            </a:r>
            <a:r>
              <a:rPr lang="en-US" altLang="en-US" sz="1600" dirty="0">
                <a:solidFill>
                  <a:schemeClr val="tx1"/>
                </a:solidFill>
                <a:latin typeface="Times New Roman" panose="02020603050405020304" pitchFamily="18" charset="0"/>
                <a:cs typeface="Times New Roman" panose="02020603050405020304" pitchFamily="18" charset="0"/>
              </a:rPr>
              <a:t>4. </a:t>
            </a:r>
            <a:r>
              <a:rPr lang="en-US" sz="1600" dirty="0" err="1">
                <a:solidFill>
                  <a:schemeClr val="tx1"/>
                </a:solidFill>
                <a:latin typeface="Times New Roman" panose="02020603050405020304" pitchFamily="18" charset="0"/>
                <a:cs typeface="Times New Roman" panose="02020603050405020304" pitchFamily="18" charset="0"/>
              </a:rPr>
              <a:t>Zanevych</a:t>
            </a:r>
            <a:r>
              <a:rPr lang="en-US" sz="1600" dirty="0">
                <a:solidFill>
                  <a:schemeClr val="tx1"/>
                </a:solidFill>
                <a:latin typeface="Times New Roman" panose="02020603050405020304" pitchFamily="18" charset="0"/>
                <a:cs typeface="Times New Roman" panose="02020603050405020304" pitchFamily="18" charset="0"/>
              </a:rPr>
              <a:t> et al., "Comparative Study Between YOLOv7 and YOLOv8 under </a:t>
            </a:r>
            <a:r>
              <a:rPr lang="en-US" sz="1600" dirty="0" err="1">
                <a:solidFill>
                  <a:schemeClr val="tx1"/>
                </a:solidFill>
                <a:latin typeface="Times New Roman" panose="02020603050405020304" pitchFamily="18" charset="0"/>
                <a:cs typeface="Times New Roman" panose="02020603050405020304" pitchFamily="18" charset="0"/>
              </a:rPr>
              <a:t>LowLight</a:t>
            </a:r>
            <a:r>
              <a:rPr lang="en-US" sz="1600" dirty="0">
                <a:solidFill>
                  <a:schemeClr val="tx1"/>
                </a:solidFill>
                <a:latin typeface="Times New Roman" panose="02020603050405020304" pitchFamily="18" charset="0"/>
                <a:cs typeface="Times New Roman" panose="02020603050405020304" pitchFamily="18" charset="0"/>
              </a:rPr>
              <a:t> Conditions," </a:t>
            </a:r>
            <a:r>
              <a:rPr lang="en-US" sz="1600" i="1" dirty="0">
                <a:solidFill>
                  <a:schemeClr val="tx1"/>
                </a:solidFill>
                <a:latin typeface="Times New Roman" panose="02020603050405020304" pitchFamily="18" charset="0"/>
                <a:cs typeface="Times New Roman" panose="02020603050405020304" pitchFamily="18" charset="0"/>
              </a:rPr>
              <a:t>IGI Global</a:t>
            </a:r>
            <a:r>
              <a:rPr lang="en-US" sz="1600" dirty="0">
                <a:solidFill>
                  <a:schemeClr val="tx1"/>
                </a:solidFill>
                <a:latin typeface="Times New Roman" panose="02020603050405020304" pitchFamily="18" charset="0"/>
                <a:cs typeface="Times New Roman" panose="02020603050405020304" pitchFamily="18" charset="0"/>
              </a:rPr>
              <a:t>, 2024.</a:t>
            </a:r>
          </a:p>
          <a:p>
            <a:pPr>
              <a:lnSpc>
                <a:spcPct val="150000"/>
              </a:lnSpc>
              <a:spcBef>
                <a:spcPct val="0"/>
              </a:spcBef>
              <a:tabLst>
                <a:tab pos="520700" algn="l"/>
              </a:tabLst>
            </a:pPr>
            <a:r>
              <a:rPr lang="en-US" altLang="en-US" sz="1600" dirty="0">
                <a:solidFill>
                  <a:schemeClr val="tx1"/>
                </a:solidFill>
                <a:latin typeface="Times New Roman" panose="02020603050405020304" pitchFamily="18" charset="0"/>
                <a:cs typeface="Times New Roman" panose="02020603050405020304" pitchFamily="18" charset="0"/>
              </a:rPr>
              <a:t>		5. </a:t>
            </a:r>
            <a:r>
              <a:rPr lang="en-US" sz="1600" dirty="0">
                <a:solidFill>
                  <a:schemeClr val="tx1"/>
                </a:solidFill>
                <a:latin typeface="Times New Roman" panose="02020603050405020304" pitchFamily="18" charset="0"/>
                <a:cs typeface="Times New Roman" panose="02020603050405020304" pitchFamily="18" charset="0"/>
              </a:rPr>
              <a:t>N. Rakesh Reddy et al., "Pothole Detection using Deep Learning," </a:t>
            </a:r>
            <a:r>
              <a:rPr lang="en-US" sz="1600" i="1" dirty="0">
                <a:solidFill>
                  <a:schemeClr val="tx1"/>
                </a:solidFill>
                <a:latin typeface="Times New Roman" panose="02020603050405020304" pitchFamily="18" charset="0"/>
                <a:cs typeface="Times New Roman" panose="02020603050405020304" pitchFamily="18" charset="0"/>
              </a:rPr>
              <a:t>IJIRSET</a:t>
            </a:r>
            <a:r>
              <a:rPr lang="en-US" sz="1600" dirty="0">
                <a:solidFill>
                  <a:schemeClr val="tx1"/>
                </a:solidFill>
                <a:latin typeface="Times New Roman" panose="02020603050405020304" pitchFamily="18" charset="0"/>
                <a:cs typeface="Times New Roman" panose="02020603050405020304" pitchFamily="18" charset="0"/>
              </a:rPr>
              <a:t>, Vol. 13, Issue 5, 2024</a:t>
            </a:r>
            <a:r>
              <a:rPr lang="en-US" altLang="en-US" sz="1600" dirty="0">
                <a:solidFill>
                  <a:schemeClr val="tx1"/>
                </a:solidFill>
                <a:latin typeface="Times New Roman" panose="02020603050405020304" pitchFamily="18" charset="0"/>
                <a:cs typeface="Times New Roman" panose="02020603050405020304" pitchFamily="18" charset="0"/>
              </a:rPr>
              <a:t>.</a:t>
            </a:r>
          </a:p>
          <a:p>
            <a:pPr>
              <a:lnSpc>
                <a:spcPct val="150000"/>
              </a:lnSpc>
            </a:pPr>
            <a:r>
              <a:rPr lang="en-US" altLang="en-US" sz="1600" dirty="0">
                <a:solidFill>
                  <a:schemeClr val="tx1"/>
                </a:solidFill>
                <a:latin typeface="Times New Roman" panose="02020603050405020304" pitchFamily="18" charset="0"/>
                <a:cs typeface="Times New Roman" panose="02020603050405020304" pitchFamily="18" charset="0"/>
              </a:rPr>
              <a:t>	6. </a:t>
            </a:r>
            <a:r>
              <a:rPr lang="en-US" sz="1600" dirty="0">
                <a:solidFill>
                  <a:schemeClr val="tx1"/>
                </a:solidFill>
                <a:latin typeface="Times New Roman" panose="02020603050405020304" pitchFamily="18" charset="0"/>
                <a:cs typeface="Times New Roman" panose="02020603050405020304" pitchFamily="18" charset="0"/>
              </a:rPr>
              <a:t>K. A. Vinodhini and K. R. A. </a:t>
            </a:r>
            <a:r>
              <a:rPr lang="en-US" sz="1600" dirty="0" err="1">
                <a:solidFill>
                  <a:schemeClr val="tx1"/>
                </a:solidFill>
                <a:latin typeface="Times New Roman" panose="02020603050405020304" pitchFamily="18" charset="0"/>
                <a:cs typeface="Times New Roman" panose="02020603050405020304" pitchFamily="18" charset="0"/>
              </a:rPr>
              <a:t>Sidhaarth</a:t>
            </a:r>
            <a:r>
              <a:rPr lang="en-US" sz="1600" dirty="0">
                <a:solidFill>
                  <a:schemeClr val="tx1"/>
                </a:solidFill>
                <a:latin typeface="Times New Roman" panose="02020603050405020304" pitchFamily="18" charset="0"/>
                <a:cs typeface="Times New Roman" panose="02020603050405020304" pitchFamily="18" charset="0"/>
              </a:rPr>
              <a:t>, "Pothole detection in bituminous road using CNN with transfer learning," </a:t>
            </a:r>
            <a:r>
              <a:rPr lang="en-US" sz="1600" i="1" dirty="0">
                <a:solidFill>
                  <a:schemeClr val="tx1"/>
                </a:solidFill>
                <a:latin typeface="Times New Roman" panose="02020603050405020304" pitchFamily="18" charset="0"/>
                <a:cs typeface="Times New Roman" panose="02020603050405020304" pitchFamily="18" charset="0"/>
              </a:rPr>
              <a:t>Measurement: Sensors</a:t>
            </a:r>
            <a:r>
              <a:rPr lang="en-US" sz="1600" dirty="0">
                <a:solidFill>
                  <a:schemeClr val="tx1"/>
                </a:solidFill>
                <a:latin typeface="Times New Roman" panose="02020603050405020304" pitchFamily="18" charset="0"/>
                <a:cs typeface="Times New Roman" panose="02020603050405020304" pitchFamily="18" charset="0"/>
              </a:rPr>
              <a:t>, Vol. 31, 2024.</a:t>
            </a:r>
          </a:p>
          <a:p>
            <a:pPr>
              <a:lnSpc>
                <a:spcPct val="150000"/>
              </a:lnSpc>
            </a:pPr>
            <a:r>
              <a:rPr lang="en-US" altLang="en-US" sz="1600" dirty="0">
                <a:solidFill>
                  <a:schemeClr val="tx1"/>
                </a:solidFill>
                <a:latin typeface="Times New Roman" panose="02020603050405020304" pitchFamily="18" charset="0"/>
                <a:cs typeface="Times New Roman" panose="02020603050405020304" pitchFamily="18" charset="0"/>
              </a:rPr>
              <a:t>	7. </a:t>
            </a:r>
            <a:r>
              <a:rPr lang="en-US" sz="1600" dirty="0" err="1">
                <a:solidFill>
                  <a:schemeClr val="tx1"/>
                </a:solidFill>
                <a:latin typeface="Times New Roman" panose="02020603050405020304" pitchFamily="18" charset="0"/>
                <a:cs typeface="Times New Roman" panose="02020603050405020304" pitchFamily="18" charset="0"/>
              </a:rPr>
              <a:t>Safyari</a:t>
            </a:r>
            <a:r>
              <a:rPr lang="en-US" sz="1600" dirty="0">
                <a:solidFill>
                  <a:schemeClr val="tx1"/>
                </a:solidFill>
                <a:latin typeface="Times New Roman" panose="02020603050405020304" pitchFamily="18" charset="0"/>
                <a:cs typeface="Times New Roman" panose="02020603050405020304" pitchFamily="18" charset="0"/>
              </a:rPr>
              <a:t> et al., "Vision-based detection methods: A comprehensive review of YOLO models," </a:t>
            </a:r>
            <a:r>
              <a:rPr lang="en-US" sz="1600" i="1" dirty="0">
                <a:solidFill>
                  <a:schemeClr val="tx1"/>
                </a:solidFill>
                <a:latin typeface="Times New Roman" panose="02020603050405020304" pitchFamily="18" charset="0"/>
                <a:cs typeface="Times New Roman" panose="02020603050405020304" pitchFamily="18" charset="0"/>
              </a:rPr>
              <a:t>IGI Global</a:t>
            </a:r>
            <a:r>
              <a:rPr lang="en-US" sz="1600" dirty="0">
                <a:solidFill>
                  <a:schemeClr val="tx1"/>
                </a:solidFill>
                <a:latin typeface="Times New Roman" panose="02020603050405020304" pitchFamily="18" charset="0"/>
                <a:cs typeface="Times New Roman" panose="02020603050405020304" pitchFamily="18" charset="0"/>
              </a:rPr>
              <a:t>, 2024.</a:t>
            </a:r>
          </a:p>
          <a:p>
            <a:pPr>
              <a:lnSpc>
                <a:spcPct val="150000"/>
              </a:lnSpc>
            </a:pPr>
            <a:r>
              <a:rPr lang="en-US" altLang="en-US" sz="1600" dirty="0">
                <a:solidFill>
                  <a:schemeClr val="tx1"/>
                </a:solidFill>
                <a:latin typeface="Times New Roman" panose="02020603050405020304" pitchFamily="18" charset="0"/>
                <a:cs typeface="Times New Roman" panose="02020603050405020304" pitchFamily="18" charset="0"/>
              </a:rPr>
              <a:t>	</a:t>
            </a:r>
            <a:r>
              <a:rPr lang="en-IN" altLang="en-US" sz="1600" dirty="0">
                <a:solidFill>
                  <a:schemeClr val="tx1"/>
                </a:solidFill>
                <a:latin typeface="Times New Roman" panose="02020603050405020304" pitchFamily="18" charset="0"/>
                <a:cs typeface="Times New Roman" panose="02020603050405020304" pitchFamily="18" charset="0"/>
              </a:rPr>
              <a:t>8. </a:t>
            </a:r>
            <a:r>
              <a:rPr lang="en-US" sz="1600" dirty="0">
                <a:solidFill>
                  <a:schemeClr val="tx1"/>
                </a:solidFill>
                <a:latin typeface="Times New Roman" panose="02020603050405020304" pitchFamily="18" charset="0"/>
                <a:cs typeface="Times New Roman" panose="02020603050405020304" pitchFamily="18" charset="0"/>
              </a:rPr>
              <a:t>Yao et al., "Pavement pothole detection system based on deep learning and binocular vision," </a:t>
            </a:r>
            <a:r>
              <a:rPr lang="en-US" sz="1600" i="1" dirty="0">
                <a:solidFill>
                  <a:schemeClr val="tx1"/>
                </a:solidFill>
                <a:latin typeface="Times New Roman" panose="02020603050405020304" pitchFamily="18" charset="0"/>
                <a:cs typeface="Times New Roman" panose="02020603050405020304" pitchFamily="18" charset="0"/>
              </a:rPr>
              <a:t>ScienceDirect</a:t>
            </a:r>
            <a:r>
              <a:rPr lang="en-US" sz="1600" dirty="0">
                <a:solidFill>
                  <a:schemeClr val="tx1"/>
                </a:solidFill>
                <a:latin typeface="Times New Roman" panose="02020603050405020304" pitchFamily="18" charset="0"/>
                <a:cs typeface="Times New Roman" panose="02020603050405020304" pitchFamily="18" charset="0"/>
              </a:rPr>
              <a:t>, 2025.</a:t>
            </a:r>
          </a:p>
          <a:p>
            <a:pPr>
              <a:lnSpc>
                <a:spcPct val="150000"/>
              </a:lnSpc>
            </a:pPr>
            <a:r>
              <a:rPr lang="en-US" sz="1600" dirty="0">
                <a:solidFill>
                  <a:schemeClr val="tx1"/>
                </a:solidFill>
                <a:latin typeface="Times New Roman" panose="02020603050405020304" pitchFamily="18" charset="0"/>
                <a:cs typeface="Times New Roman" panose="02020603050405020304" pitchFamily="18" charset="0"/>
              </a:rPr>
              <a:t>	</a:t>
            </a:r>
            <a:r>
              <a:rPr lang="en-IN" altLang="en-US" sz="1600" dirty="0">
                <a:solidFill>
                  <a:schemeClr val="tx1"/>
                </a:solidFill>
                <a:latin typeface="Times New Roman" panose="02020603050405020304" pitchFamily="18" charset="0"/>
                <a:cs typeface="Times New Roman" panose="02020603050405020304" pitchFamily="18" charset="0"/>
              </a:rPr>
              <a:t>9. </a:t>
            </a:r>
            <a:r>
              <a:rPr lang="en-US" sz="1600" dirty="0">
                <a:solidFill>
                  <a:schemeClr val="tx1"/>
                </a:solidFill>
                <a:latin typeface="Times New Roman" panose="02020603050405020304" pitchFamily="18" charset="0"/>
                <a:cs typeface="Times New Roman" panose="02020603050405020304" pitchFamily="18" charset="0"/>
              </a:rPr>
              <a:t>Boosam et al., "Survey on Pothole Detection Techniques Using Deep Learning," </a:t>
            </a:r>
            <a:r>
              <a:rPr lang="en-US" sz="1600" i="1" dirty="0">
                <a:solidFill>
                  <a:schemeClr val="tx1"/>
                </a:solidFill>
                <a:latin typeface="Times New Roman" panose="02020603050405020304" pitchFamily="18" charset="0"/>
                <a:cs typeface="Times New Roman" panose="02020603050405020304" pitchFamily="18" charset="0"/>
              </a:rPr>
              <a:t>IJSART</a:t>
            </a:r>
            <a:r>
              <a:rPr lang="en-US" sz="1600" dirty="0">
                <a:solidFill>
                  <a:schemeClr val="tx1"/>
                </a:solidFill>
                <a:latin typeface="Times New Roman" panose="02020603050405020304" pitchFamily="18" charset="0"/>
                <a:cs typeface="Times New Roman" panose="02020603050405020304" pitchFamily="18" charset="0"/>
              </a:rPr>
              <a:t>, Vol. 11, 2025.</a:t>
            </a:r>
          </a:p>
          <a:p>
            <a:pPr>
              <a:lnSpc>
                <a:spcPct val="150000"/>
              </a:lnSpc>
            </a:pPr>
            <a:r>
              <a:rPr lang="en-US" altLang="en-US" sz="1600" dirty="0">
                <a:solidFill>
                  <a:schemeClr val="tx1"/>
                </a:solidFill>
                <a:latin typeface="Times New Roman" panose="02020603050405020304" pitchFamily="18" charset="0"/>
                <a:cs typeface="Times New Roman" panose="02020603050405020304" pitchFamily="18" charset="0"/>
              </a:rPr>
              <a:t>	</a:t>
            </a:r>
            <a:r>
              <a:rPr lang="en-IN" altLang="en-US" sz="1600" dirty="0">
                <a:solidFill>
                  <a:schemeClr val="tx1"/>
                </a:solidFill>
                <a:latin typeface="Times New Roman" panose="02020603050405020304" pitchFamily="18" charset="0"/>
                <a:cs typeface="Times New Roman" panose="02020603050405020304" pitchFamily="18" charset="0"/>
              </a:rPr>
              <a:t>10. </a:t>
            </a:r>
            <a:r>
              <a:rPr lang="en-US" sz="1600" dirty="0">
                <a:solidFill>
                  <a:schemeClr val="tx1"/>
                </a:solidFill>
                <a:latin typeface="Times New Roman" panose="02020603050405020304" pitchFamily="18" charset="0"/>
                <a:cs typeface="Times New Roman" panose="02020603050405020304" pitchFamily="18" charset="0"/>
              </a:rPr>
              <a:t>Chandra et al., "Pothole Detection in Drivable Area using Deep Learning," </a:t>
            </a:r>
            <a:r>
              <a:rPr lang="en-US" sz="1600" i="1" dirty="0">
                <a:solidFill>
                  <a:schemeClr val="tx1"/>
                </a:solidFill>
                <a:latin typeface="Times New Roman" panose="02020603050405020304" pitchFamily="18" charset="0"/>
                <a:cs typeface="Times New Roman" panose="02020603050405020304" pitchFamily="18" charset="0"/>
              </a:rPr>
              <a:t>IRJMS</a:t>
            </a:r>
            <a:r>
              <a:rPr lang="en-US" sz="1600" dirty="0">
                <a:solidFill>
                  <a:schemeClr val="tx1"/>
                </a:solidFill>
                <a:latin typeface="Times New Roman" panose="02020603050405020304" pitchFamily="18" charset="0"/>
                <a:cs typeface="Times New Roman" panose="02020603050405020304" pitchFamily="18" charset="0"/>
              </a:rPr>
              <a:t>, Vol. 6, Issue 1, 2025.</a:t>
            </a:r>
          </a:p>
          <a:p>
            <a:pPr>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spcBef>
                <a:spcPct val="0"/>
              </a:spcBef>
              <a:buFontTx/>
              <a:buNone/>
              <a:tabLst>
                <a:tab pos="520700" algn="l"/>
              </a:tabLst>
            </a:pPr>
            <a:endParaRPr lang="en-IN" altLang="en-US" sz="1600" dirty="0">
              <a:latin typeface="Times New Roman" panose="02020603050405020304" pitchFamily="18" charset="0"/>
              <a:cs typeface="Times New Roman" panose="02020603050405020304" pitchFamily="18" charset="0"/>
            </a:endParaRPr>
          </a:p>
          <a:p>
            <a:pPr algn="just">
              <a:lnSpc>
                <a:spcPct val="150000"/>
              </a:lnSpc>
              <a:spcBef>
                <a:spcPct val="0"/>
              </a:spcBef>
              <a:tabLst>
                <a:tab pos="520700" algn="l"/>
              </a:tabLst>
            </a:pPr>
            <a:r>
              <a:rPr lang="en-IN" altLang="en-US" sz="1600"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000" dirty="0">
              <a:latin typeface="Times New Roman" panose="02020603050405020304" pitchFamily="18" charset="0"/>
              <a:cs typeface="Times New Roman" panose="02020603050405020304" pitchFamily="18" charset="0"/>
            </a:endParaRPr>
          </a:p>
          <a:p>
            <a:pPr algn="just">
              <a:spcBef>
                <a:spcPct val="0"/>
              </a:spcBef>
              <a:tabLst>
                <a:tab pos="520700" algn="l"/>
              </a:tabLst>
            </a:pPr>
            <a:r>
              <a:rPr lang="en-IN" altLang="en-US" sz="2000" dirty="0">
                <a:latin typeface="Times New Roman" panose="02020603050405020304" pitchFamily="18" charset="0"/>
                <a:cs typeface="Times New Roman" panose="02020603050405020304" pitchFamily="18" charset="0"/>
              </a:rPr>
              <a:t>	</a:t>
            </a:r>
            <a:endParaRPr lang="en-US" sz="1600" dirty="0"/>
          </a:p>
          <a:p>
            <a:r>
              <a:rPr lang="en-US" sz="1600" dirty="0"/>
              <a:t>	</a:t>
            </a:r>
          </a:p>
          <a:p>
            <a:pPr>
              <a:spcBef>
                <a:spcPct val="0"/>
              </a:spcBef>
              <a:tabLst>
                <a:tab pos="520700" algn="l"/>
              </a:tabLst>
            </a:pPr>
            <a:endParaRPr lang="en-US" altLang="en-US" sz="1800" dirty="0">
              <a:latin typeface="+mj-lt"/>
              <a:cs typeface="Times New Roman" panose="02020603050405020304" pitchFamily="18" charset="0"/>
            </a:endParaRPr>
          </a:p>
          <a:p>
            <a:pPr>
              <a:spcBef>
                <a:spcPct val="0"/>
              </a:spcBef>
              <a:tabLst>
                <a:tab pos="520700" algn="l"/>
              </a:tabLst>
            </a:pPr>
            <a:endParaRPr lang="en-US" altLang="en-US" sz="2400" dirty="0">
              <a:latin typeface="Times New Roman" panose="02020603050405020304" pitchFamily="18" charset="0"/>
              <a:cs typeface="Times New Roman" panose="02020603050405020304" pitchFamily="18" charset="0"/>
            </a:endParaRPr>
          </a:p>
          <a:p>
            <a:endParaRPr lang="en-IN" altLang="en-US" sz="1800" dirty="0">
              <a:latin typeface="Times New Roman" panose="02020603050405020304" pitchFamily="18" charset="0"/>
              <a:cs typeface="Times New Roman" panose="02020603050405020304" pitchFamily="18" charset="0"/>
            </a:endParaRPr>
          </a:p>
          <a:p>
            <a:pPr>
              <a:spcBef>
                <a:spcPct val="0"/>
              </a:spcBef>
              <a:tabLst>
                <a:tab pos="520700" algn="l"/>
              </a:tabLst>
            </a:pPr>
            <a:br>
              <a:rPr lang="en-US" altLang="en-US" sz="1800" dirty="0">
                <a:latin typeface="Times New Roman" panose="02020603050405020304" pitchFamily="18" charset="0"/>
                <a:cs typeface="Times New Roman" panose="02020603050405020304" pitchFamily="18" charset="0"/>
              </a:rPr>
            </a:br>
            <a:endParaRPr lang="en-US" altLang="en-US" sz="18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4216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4476F15-F17D-F5E8-1DD8-5C70333B72C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7945083-ABD0-A3E0-A7DC-FD2E807F6B9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DFC7F05-4DFC-CFB3-5EDC-84338C4E2965}"/>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i="0" u="none" strike="noStrike" cap="none">
                <a:solidFill>
                  <a:srgbClr val="47FFD0"/>
                </a:solidFill>
                <a:latin typeface="Comic Sans MS"/>
                <a:ea typeface="Comic Sans MS"/>
                <a:cs typeface="Comic Sans MS"/>
                <a:sym typeface="Comic Sans MS"/>
              </a:rPr>
              <a:t>Department of Computer Science and Engineering </a:t>
            </a:r>
            <a:endParaRPr sz="140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17D0EEB0-77D3-7134-A418-502E5F61B5AF}"/>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9D73529-D534-8842-9C6F-AC3329160242}"/>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35</a:t>
            </a:fld>
            <a:endParaRPr sz="1600"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CFFC29AF-12EF-14E7-4D84-9B05A34B804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094E2C3-6A1C-B2A5-6EAB-06BC3A7E68C1}"/>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i="0" u="none" strike="noStrike" cap="none">
                <a:solidFill>
                  <a:srgbClr val="47FFD0"/>
                </a:solidFill>
                <a:latin typeface="Comic Sans MS"/>
                <a:ea typeface="Comic Sans MS"/>
                <a:cs typeface="Comic Sans MS"/>
                <a:sym typeface="Comic Sans MS"/>
              </a:rPr>
              <a:t>Mepco Schlenk Engineering College </a:t>
            </a:r>
            <a:r>
              <a:rPr lang="en-US" sz="1800" i="0" u="none" strike="noStrike" cap="none">
                <a:solidFill>
                  <a:srgbClr val="47FFD0"/>
                </a:solidFill>
                <a:latin typeface="Comic Sans MS"/>
                <a:ea typeface="Comic Sans MS"/>
                <a:cs typeface="Comic Sans MS"/>
                <a:sym typeface="Comic Sans MS"/>
              </a:rPr>
              <a:t>(Autonomous)</a:t>
            </a:r>
            <a:endParaRPr sz="1800"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2425C22-45A2-6228-E075-BA5CD17216B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40F463BD-4243-00B1-07A6-AD80AB71866B}"/>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graphicFrame>
        <p:nvGraphicFramePr>
          <p:cNvPr id="2" name="Table 1">
            <a:extLst>
              <a:ext uri="{FF2B5EF4-FFF2-40B4-BE49-F238E27FC236}">
                <a16:creationId xmlns:a16="http://schemas.microsoft.com/office/drawing/2014/main" id="{096D300C-79D7-CF15-B128-873307A298E8}"/>
              </a:ext>
            </a:extLst>
          </p:cNvPr>
          <p:cNvGraphicFramePr>
            <a:graphicFrameLocks noGrp="1"/>
          </p:cNvGraphicFramePr>
          <p:nvPr>
            <p:extLst>
              <p:ext uri="{D42A27DB-BD31-4B8C-83A1-F6EECF244321}">
                <p14:modId xmlns:p14="http://schemas.microsoft.com/office/powerpoint/2010/main" val="2476513667"/>
              </p:ext>
            </p:extLst>
          </p:nvPr>
        </p:nvGraphicFramePr>
        <p:xfrm>
          <a:off x="652272" y="1593088"/>
          <a:ext cx="3980688" cy="2743200"/>
        </p:xfrm>
        <a:graphic>
          <a:graphicData uri="http://schemas.openxmlformats.org/drawingml/2006/table">
            <a:tbl>
              <a:tblPr firstRow="1" bandRow="1">
                <a:tableStyleId>{5C22544A-7EE6-4342-B048-85BDC9FD1C3A}</a:tableStyleId>
              </a:tblPr>
              <a:tblGrid>
                <a:gridCol w="3980688">
                  <a:extLst>
                    <a:ext uri="{9D8B030D-6E8A-4147-A177-3AD203B41FA5}">
                      <a16:colId xmlns:a16="http://schemas.microsoft.com/office/drawing/2014/main" val="3407440396"/>
                    </a:ext>
                  </a:extLst>
                </a:gridCol>
              </a:tblGrid>
              <a:tr h="370840">
                <a:tc>
                  <a:txBody>
                    <a:bodyPr/>
                    <a:lstStyle/>
                    <a:p>
                      <a:pPr marL="0" marR="0" lvl="0" indent="0" algn="ctr" rtl="0">
                        <a:lnSpc>
                          <a:spcPct val="100000"/>
                        </a:lnSpc>
                        <a:spcBef>
                          <a:spcPts val="0"/>
                        </a:spcBef>
                        <a:spcAft>
                          <a:spcPts val="0"/>
                        </a:spcAft>
                        <a:buClr>
                          <a:schemeClr val="dk1"/>
                        </a:buClr>
                        <a:buSzPts val="3200"/>
                        <a:buFont typeface="Times New Roman"/>
                        <a:buNone/>
                      </a:pPr>
                      <a:r>
                        <a:rPr lang="en-US" sz="1400" b="1" i="0" u="none" strike="noStrike" cap="none" dirty="0">
                          <a:solidFill>
                            <a:schemeClr val="dk1"/>
                          </a:solidFill>
                          <a:latin typeface="Times New Roman"/>
                          <a:ea typeface="Times New Roman"/>
                          <a:cs typeface="Times New Roman"/>
                          <a:sym typeface="Times New Roman"/>
                        </a:rPr>
                        <a:t>Review 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1223"/>
                  </a:ext>
                </a:extLst>
              </a:tr>
              <a:tr h="370840">
                <a:tc>
                  <a:txBody>
                    <a:bodyPr/>
                    <a:lstStyle/>
                    <a:p>
                      <a:pPr marR="0" lvl="0" rtl="0">
                        <a:lnSpc>
                          <a:spcPct val="100000"/>
                        </a:lnSpc>
                        <a:spcBef>
                          <a:spcPts val="0"/>
                        </a:spcBef>
                        <a:spcAft>
                          <a:spcPts val="0"/>
                        </a:spcAft>
                        <a:buClr>
                          <a:schemeClr val="dk1"/>
                        </a:buClr>
                        <a:buSzPts val="3200"/>
                      </a:pPr>
                      <a:r>
                        <a:rPr lang="en-US" sz="1400" dirty="0">
                          <a:solidFill>
                            <a:schemeClr val="dk1"/>
                          </a:solidFill>
                          <a:latin typeface="Times New Roman"/>
                          <a:ea typeface="Times New Roman"/>
                          <a:cs typeface="Times New Roman"/>
                          <a:sym typeface="Times New Roman"/>
                        </a:rPr>
                        <a:t>Align the equal no of objectives and outcomes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253424"/>
                  </a:ext>
                </a:extLst>
              </a:tr>
              <a:tr h="370840">
                <a:tc>
                  <a:txBody>
                    <a:bodyPr/>
                    <a:lstStyle/>
                    <a:p>
                      <a:pPr marR="0" lvl="0" rtl="0">
                        <a:lnSpc>
                          <a:spcPct val="100000"/>
                        </a:lnSpc>
                        <a:spcBef>
                          <a:spcPts val="0"/>
                        </a:spcBef>
                        <a:spcAft>
                          <a:spcPts val="0"/>
                        </a:spcAft>
                        <a:buClr>
                          <a:schemeClr val="dk1"/>
                        </a:buClr>
                        <a:buSzPts val="3200"/>
                      </a:pPr>
                      <a:r>
                        <a:rPr lang="en-US" sz="1400" dirty="0">
                          <a:solidFill>
                            <a:schemeClr val="dk1"/>
                          </a:solidFill>
                          <a:latin typeface="Times New Roman"/>
                          <a:ea typeface="Times New Roman"/>
                          <a:cs typeface="Times New Roman"/>
                          <a:sym typeface="Times New Roman"/>
                        </a:rPr>
                        <a:t>Dataset not included in system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6469517"/>
                  </a:ext>
                </a:extLst>
              </a:tr>
              <a:tr h="370840">
                <a:tc>
                  <a:txBody>
                    <a:bodyPr/>
                    <a:lstStyle/>
                    <a:p>
                      <a:pPr marR="0" lvl="0" rtl="0">
                        <a:lnSpc>
                          <a:spcPct val="100000"/>
                        </a:lnSpc>
                        <a:spcBef>
                          <a:spcPts val="0"/>
                        </a:spcBef>
                        <a:spcAft>
                          <a:spcPts val="0"/>
                        </a:spcAft>
                        <a:buClr>
                          <a:schemeClr val="dk1"/>
                        </a:buClr>
                        <a:buSzPts val="3200"/>
                      </a:pPr>
                      <a:r>
                        <a:rPr lang="en-US" sz="1400" i="0" u="none" strike="noStrike" cap="none" dirty="0">
                          <a:solidFill>
                            <a:schemeClr val="dk1"/>
                          </a:solidFill>
                          <a:latin typeface="Times New Roman"/>
                          <a:ea typeface="Times New Roman"/>
                          <a:cs typeface="Times New Roman"/>
                          <a:sym typeface="Times New Roman"/>
                        </a:rPr>
                        <a:t>Not cleaned with existing and proposed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739317"/>
                  </a:ext>
                </a:extLst>
              </a:tr>
              <a:tr h="370840">
                <a:tc>
                  <a:txBody>
                    <a:bodyPr/>
                    <a:lstStyle/>
                    <a:p>
                      <a:r>
                        <a:rPr lang="en-US" b="0" dirty="0">
                          <a:solidFill>
                            <a:schemeClr val="tx1"/>
                          </a:solidFill>
                        </a:rPr>
                        <a:t>Include review comments and actions taken in presentation slide</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919809"/>
                  </a:ext>
                </a:extLst>
              </a:tr>
              <a:tr h="370840">
                <a:tc>
                  <a:txBody>
                    <a:bodyPr/>
                    <a:lstStyle/>
                    <a:p>
                      <a:r>
                        <a:rPr lang="en-US" b="0" dirty="0">
                          <a:solidFill>
                            <a:schemeClr val="tx1"/>
                          </a:solidFill>
                        </a:rPr>
                        <a:t>Fine tune the objectives and outcomes</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5088041"/>
                  </a:ext>
                </a:extLst>
              </a:tr>
              <a:tr h="370840">
                <a:tc>
                  <a:txBody>
                    <a:bodyPr/>
                    <a:lstStyle/>
                    <a:p>
                      <a:r>
                        <a:rPr lang="en-US" b="0" dirty="0">
                          <a:solidFill>
                            <a:schemeClr val="tx1"/>
                          </a:solidFill>
                        </a:rPr>
                        <a:t>Represent the result in a table format</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8370902"/>
                  </a:ext>
                </a:extLst>
              </a:tr>
            </a:tbl>
          </a:graphicData>
        </a:graphic>
      </p:graphicFrame>
      <p:graphicFrame>
        <p:nvGraphicFramePr>
          <p:cNvPr id="15" name="Table 14">
            <a:extLst>
              <a:ext uri="{FF2B5EF4-FFF2-40B4-BE49-F238E27FC236}">
                <a16:creationId xmlns:a16="http://schemas.microsoft.com/office/drawing/2014/main" id="{7011E0D7-2FDE-DD80-00FB-B02CF489D313}"/>
              </a:ext>
            </a:extLst>
          </p:cNvPr>
          <p:cNvGraphicFramePr>
            <a:graphicFrameLocks noGrp="1"/>
          </p:cNvGraphicFramePr>
          <p:nvPr>
            <p:extLst>
              <p:ext uri="{D42A27DB-BD31-4B8C-83A1-F6EECF244321}">
                <p14:modId xmlns:p14="http://schemas.microsoft.com/office/powerpoint/2010/main" val="3747876571"/>
              </p:ext>
            </p:extLst>
          </p:nvPr>
        </p:nvGraphicFramePr>
        <p:xfrm>
          <a:off x="4632960" y="1598168"/>
          <a:ext cx="3980688" cy="2740727"/>
        </p:xfrm>
        <a:graphic>
          <a:graphicData uri="http://schemas.openxmlformats.org/drawingml/2006/table">
            <a:tbl>
              <a:tblPr firstRow="1" bandRow="1">
                <a:tableStyleId>{5C22544A-7EE6-4342-B048-85BDC9FD1C3A}</a:tableStyleId>
              </a:tblPr>
              <a:tblGrid>
                <a:gridCol w="3980688">
                  <a:extLst>
                    <a:ext uri="{9D8B030D-6E8A-4147-A177-3AD203B41FA5}">
                      <a16:colId xmlns:a16="http://schemas.microsoft.com/office/drawing/2014/main" val="3407440396"/>
                    </a:ext>
                  </a:extLst>
                </a:gridCol>
              </a:tblGrid>
              <a:tr h="370840">
                <a:tc>
                  <a:txBody>
                    <a:bodyPr/>
                    <a:lstStyle/>
                    <a:p>
                      <a:pPr marL="0" marR="0" lvl="0" indent="0" algn="ctr" rtl="0">
                        <a:lnSpc>
                          <a:spcPct val="100000"/>
                        </a:lnSpc>
                        <a:spcBef>
                          <a:spcPts val="0"/>
                        </a:spcBef>
                        <a:spcAft>
                          <a:spcPts val="0"/>
                        </a:spcAft>
                        <a:buClr>
                          <a:schemeClr val="dk1"/>
                        </a:buClr>
                        <a:buSzPts val="3200"/>
                        <a:buFont typeface="Times New Roman"/>
                        <a:buNone/>
                      </a:pPr>
                      <a:r>
                        <a:rPr lang="en-US" sz="1400" b="1" i="0" u="none" strike="noStrike" cap="none" dirty="0">
                          <a:solidFill>
                            <a:schemeClr val="dk1"/>
                          </a:solidFill>
                          <a:latin typeface="Times New Roman"/>
                          <a:ea typeface="Times New Roman"/>
                          <a:cs typeface="Times New Roman"/>
                          <a:sym typeface="Times New Roman"/>
                        </a:rPr>
                        <a:t>Action taken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1223"/>
                  </a:ext>
                </a:extLst>
              </a:tr>
              <a:tr h="370840">
                <a:tc>
                  <a:txBody>
                    <a:bodyPr/>
                    <a:lstStyle/>
                    <a:p>
                      <a:pPr algn="ctr"/>
                      <a:r>
                        <a:rPr lang="en-US" b="0" dirty="0">
                          <a:solidFill>
                            <a:schemeClr val="tx1"/>
                          </a:solidFill>
                        </a:rPr>
                        <a:t>Equal no of objectives and outcomes are placed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253424"/>
                  </a:ext>
                </a:extLst>
              </a:tr>
              <a:tr h="370840">
                <a:tc>
                  <a:txBody>
                    <a:bodyPr/>
                    <a:lstStyle/>
                    <a:p>
                      <a:pPr algn="ctr"/>
                      <a:r>
                        <a:rPr lang="en-US" b="0" dirty="0">
                          <a:solidFill>
                            <a:schemeClr val="tx1"/>
                          </a:solidFill>
                        </a:rPr>
                        <a:t>Dataset Added</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6469517"/>
                  </a:ext>
                </a:extLst>
              </a:tr>
              <a:tr h="370840">
                <a:tc>
                  <a:txBody>
                    <a:bodyPr/>
                    <a:lstStyle/>
                    <a:p>
                      <a:pPr algn="ctr"/>
                      <a:r>
                        <a:rPr lang="en-US" b="0" dirty="0">
                          <a:solidFill>
                            <a:schemeClr val="tx1"/>
                          </a:solidFill>
                        </a:rPr>
                        <a:t>Done</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739317"/>
                  </a:ext>
                </a:extLst>
              </a:tr>
              <a:tr h="515687">
                <a:tc>
                  <a:txBody>
                    <a:bodyPr/>
                    <a:lstStyle/>
                    <a:p>
                      <a:pPr algn="ctr"/>
                      <a:r>
                        <a:rPr lang="en-US" b="0" dirty="0">
                          <a:solidFill>
                            <a:schemeClr val="tx1"/>
                          </a:solidFill>
                        </a:rPr>
                        <a:t>Added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8473664"/>
                  </a:ext>
                </a:extLst>
              </a:tr>
              <a:tr h="370840">
                <a:tc>
                  <a:txBody>
                    <a:bodyPr/>
                    <a:lstStyle/>
                    <a:p>
                      <a:pPr algn="ctr"/>
                      <a:r>
                        <a:rPr lang="en-US" b="0" dirty="0">
                          <a:solidFill>
                            <a:schemeClr val="tx1"/>
                          </a:solidFill>
                        </a:rPr>
                        <a:t>Modified successfully</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1693155"/>
                  </a:ext>
                </a:extLst>
              </a:tr>
              <a:tr h="370840">
                <a:tc>
                  <a:txBody>
                    <a:bodyPr/>
                    <a:lstStyle/>
                    <a:p>
                      <a:pPr algn="ctr"/>
                      <a:r>
                        <a:rPr lang="en-US" b="0" dirty="0">
                          <a:solidFill>
                            <a:schemeClr val="tx1"/>
                          </a:solidFill>
                        </a:rPr>
                        <a:t>Result Table Added Successfully</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4416125"/>
                  </a:ext>
                </a:extLst>
              </a:tr>
            </a:tbl>
          </a:graphicData>
        </a:graphic>
      </p:graphicFrame>
    </p:spTree>
    <p:extLst>
      <p:ext uri="{BB962C8B-B14F-4D97-AF65-F5344CB8AC3E}">
        <p14:creationId xmlns:p14="http://schemas.microsoft.com/office/powerpoint/2010/main" val="806901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0CC99E07-15B8-AFCD-3B08-352979C904AE}"/>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E706DDD-58D0-CA2B-1056-43DCA05C5B59}"/>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DABB0F3-1D2C-67FD-9AB0-12F5C04DCFE6}"/>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i="0" u="none" strike="noStrike" cap="none">
                <a:solidFill>
                  <a:srgbClr val="47FFD0"/>
                </a:solidFill>
                <a:latin typeface="Comic Sans MS"/>
                <a:ea typeface="Comic Sans MS"/>
                <a:cs typeface="Comic Sans MS"/>
                <a:sym typeface="Comic Sans MS"/>
              </a:rPr>
              <a:t>Department of Computer Science and Engineering </a:t>
            </a:r>
            <a:endParaRPr sz="140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7C99BF8-33AF-B764-6E4B-DF4AC0AA77B3}"/>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8C15D2E4-E84F-B428-AF5D-A563425AA781}"/>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36</a:t>
            </a:fld>
            <a:endParaRPr sz="1600"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0169FE77-C29F-93D4-6B0D-E982643A7DD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B2177D3C-BD4C-0309-52A3-1088842404A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i="0" u="none" strike="noStrike" cap="none">
                <a:solidFill>
                  <a:srgbClr val="47FFD0"/>
                </a:solidFill>
                <a:latin typeface="Comic Sans MS"/>
                <a:ea typeface="Comic Sans MS"/>
                <a:cs typeface="Comic Sans MS"/>
                <a:sym typeface="Comic Sans MS"/>
              </a:rPr>
              <a:t>Mepco Schlenk Engineering College </a:t>
            </a:r>
            <a:r>
              <a:rPr lang="en-US" sz="1800" i="0" u="none" strike="noStrike" cap="none">
                <a:solidFill>
                  <a:srgbClr val="47FFD0"/>
                </a:solidFill>
                <a:latin typeface="Comic Sans MS"/>
                <a:ea typeface="Comic Sans MS"/>
                <a:cs typeface="Comic Sans MS"/>
                <a:sym typeface="Comic Sans MS"/>
              </a:rPr>
              <a:t>(Autonomous)</a:t>
            </a:r>
            <a:endParaRPr sz="1800"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ADEE8777-B8A7-E1DF-F3B7-D4A27DA69790}"/>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57DDFD4-B8F9-F8A4-FF37-AD3B4DE9C72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graphicFrame>
        <p:nvGraphicFramePr>
          <p:cNvPr id="2" name="Table 1">
            <a:extLst>
              <a:ext uri="{FF2B5EF4-FFF2-40B4-BE49-F238E27FC236}">
                <a16:creationId xmlns:a16="http://schemas.microsoft.com/office/drawing/2014/main" id="{B665C8B5-AA98-AE05-4364-969F204FC540}"/>
              </a:ext>
            </a:extLst>
          </p:cNvPr>
          <p:cNvGraphicFramePr>
            <a:graphicFrameLocks noGrp="1"/>
          </p:cNvGraphicFramePr>
          <p:nvPr>
            <p:extLst>
              <p:ext uri="{D42A27DB-BD31-4B8C-83A1-F6EECF244321}">
                <p14:modId xmlns:p14="http://schemas.microsoft.com/office/powerpoint/2010/main" val="615471931"/>
              </p:ext>
            </p:extLst>
          </p:nvPr>
        </p:nvGraphicFramePr>
        <p:xfrm>
          <a:off x="652272" y="1593088"/>
          <a:ext cx="3980688" cy="1630680"/>
        </p:xfrm>
        <a:graphic>
          <a:graphicData uri="http://schemas.openxmlformats.org/drawingml/2006/table">
            <a:tbl>
              <a:tblPr firstRow="1" bandRow="1">
                <a:tableStyleId>{5C22544A-7EE6-4342-B048-85BDC9FD1C3A}</a:tableStyleId>
              </a:tblPr>
              <a:tblGrid>
                <a:gridCol w="3980688">
                  <a:extLst>
                    <a:ext uri="{9D8B030D-6E8A-4147-A177-3AD203B41FA5}">
                      <a16:colId xmlns:a16="http://schemas.microsoft.com/office/drawing/2014/main" val="3407440396"/>
                    </a:ext>
                  </a:extLst>
                </a:gridCol>
              </a:tblGrid>
              <a:tr h="370840">
                <a:tc>
                  <a:txBody>
                    <a:bodyPr/>
                    <a:lstStyle/>
                    <a:p>
                      <a:pPr marL="0" marR="0" lvl="0" indent="0" algn="ctr" rtl="0">
                        <a:lnSpc>
                          <a:spcPct val="100000"/>
                        </a:lnSpc>
                        <a:spcBef>
                          <a:spcPts val="0"/>
                        </a:spcBef>
                        <a:spcAft>
                          <a:spcPts val="0"/>
                        </a:spcAft>
                        <a:buClr>
                          <a:schemeClr val="dk1"/>
                        </a:buClr>
                        <a:buSzPts val="3200"/>
                        <a:buFont typeface="Times New Roman"/>
                        <a:buNone/>
                      </a:pPr>
                      <a:r>
                        <a:rPr lang="en-US" sz="1400" b="1" i="0" u="none" strike="noStrike" cap="none" dirty="0">
                          <a:solidFill>
                            <a:schemeClr val="dk1"/>
                          </a:solidFill>
                          <a:latin typeface="Times New Roman"/>
                          <a:ea typeface="Times New Roman"/>
                          <a:cs typeface="Times New Roman"/>
                          <a:sym typeface="Times New Roman"/>
                        </a:rPr>
                        <a:t>Review Comments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1223"/>
                  </a:ext>
                </a:extLst>
              </a:tr>
              <a:tr h="370840">
                <a:tc>
                  <a:txBody>
                    <a:bodyPr/>
                    <a:lstStyle/>
                    <a:p>
                      <a:r>
                        <a:rPr lang="en-US" b="0" dirty="0">
                          <a:solidFill>
                            <a:schemeClr val="tx1"/>
                          </a:solidFill>
                        </a:rPr>
                        <a:t>Include review comments and actions taken in presentation slide</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253424"/>
                  </a:ext>
                </a:extLst>
              </a:tr>
              <a:tr h="370840">
                <a:tc>
                  <a:txBody>
                    <a:bodyPr/>
                    <a:lstStyle/>
                    <a:p>
                      <a:r>
                        <a:rPr lang="en-US" b="0" dirty="0">
                          <a:solidFill>
                            <a:schemeClr val="tx1"/>
                          </a:solidFill>
                        </a:rPr>
                        <a:t>Fine tune the objectives and outcomes</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6469517"/>
                  </a:ext>
                </a:extLst>
              </a:tr>
              <a:tr h="370840">
                <a:tc>
                  <a:txBody>
                    <a:bodyPr/>
                    <a:lstStyle/>
                    <a:p>
                      <a:r>
                        <a:rPr lang="en-US" b="0" dirty="0">
                          <a:solidFill>
                            <a:schemeClr val="tx1"/>
                          </a:solidFill>
                        </a:rPr>
                        <a:t>Represent the result in a table format</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739317"/>
                  </a:ext>
                </a:extLst>
              </a:tr>
            </a:tbl>
          </a:graphicData>
        </a:graphic>
      </p:graphicFrame>
      <p:graphicFrame>
        <p:nvGraphicFramePr>
          <p:cNvPr id="15" name="Table 14">
            <a:extLst>
              <a:ext uri="{FF2B5EF4-FFF2-40B4-BE49-F238E27FC236}">
                <a16:creationId xmlns:a16="http://schemas.microsoft.com/office/drawing/2014/main" id="{2785665D-8971-BD32-A495-8E54EBA273DD}"/>
              </a:ext>
            </a:extLst>
          </p:cNvPr>
          <p:cNvGraphicFramePr>
            <a:graphicFrameLocks noGrp="1"/>
          </p:cNvGraphicFramePr>
          <p:nvPr>
            <p:extLst>
              <p:ext uri="{D42A27DB-BD31-4B8C-83A1-F6EECF244321}">
                <p14:modId xmlns:p14="http://schemas.microsoft.com/office/powerpoint/2010/main" val="1770655818"/>
              </p:ext>
            </p:extLst>
          </p:nvPr>
        </p:nvGraphicFramePr>
        <p:xfrm>
          <a:off x="4632960" y="1598168"/>
          <a:ext cx="3980688" cy="1630680"/>
        </p:xfrm>
        <a:graphic>
          <a:graphicData uri="http://schemas.openxmlformats.org/drawingml/2006/table">
            <a:tbl>
              <a:tblPr firstRow="1" bandRow="1">
                <a:tableStyleId>{5C22544A-7EE6-4342-B048-85BDC9FD1C3A}</a:tableStyleId>
              </a:tblPr>
              <a:tblGrid>
                <a:gridCol w="3980688">
                  <a:extLst>
                    <a:ext uri="{9D8B030D-6E8A-4147-A177-3AD203B41FA5}">
                      <a16:colId xmlns:a16="http://schemas.microsoft.com/office/drawing/2014/main" val="3407440396"/>
                    </a:ext>
                  </a:extLst>
                </a:gridCol>
              </a:tblGrid>
              <a:tr h="370840">
                <a:tc>
                  <a:txBody>
                    <a:bodyPr/>
                    <a:lstStyle/>
                    <a:p>
                      <a:pPr marL="0" marR="0" lvl="0" indent="0" algn="ctr" rtl="0">
                        <a:lnSpc>
                          <a:spcPct val="100000"/>
                        </a:lnSpc>
                        <a:spcBef>
                          <a:spcPts val="0"/>
                        </a:spcBef>
                        <a:spcAft>
                          <a:spcPts val="0"/>
                        </a:spcAft>
                        <a:buClr>
                          <a:schemeClr val="dk1"/>
                        </a:buClr>
                        <a:buSzPts val="3200"/>
                        <a:buFont typeface="Times New Roman"/>
                        <a:buNone/>
                      </a:pPr>
                      <a:r>
                        <a:rPr lang="en-US" sz="1400" b="1" i="0" u="none" strike="noStrike" cap="none" dirty="0">
                          <a:solidFill>
                            <a:schemeClr val="dk1"/>
                          </a:solidFill>
                          <a:latin typeface="Times New Roman"/>
                          <a:ea typeface="Times New Roman"/>
                          <a:cs typeface="Times New Roman"/>
                          <a:sym typeface="Times New Roman"/>
                        </a:rPr>
                        <a:t>Action taken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91223"/>
                  </a:ext>
                </a:extLst>
              </a:tr>
              <a:tr h="370840">
                <a:tc>
                  <a:txBody>
                    <a:bodyPr/>
                    <a:lstStyle/>
                    <a:p>
                      <a:pPr algn="ctr"/>
                      <a:r>
                        <a:rPr lang="en-US" b="0" dirty="0">
                          <a:solidFill>
                            <a:schemeClr val="tx1"/>
                          </a:solidFill>
                        </a:rPr>
                        <a:t>Added</a:t>
                      </a:r>
                    </a:p>
                    <a:p>
                      <a:pPr algn="ct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0253424"/>
                  </a:ext>
                </a:extLst>
              </a:tr>
              <a:tr h="370840">
                <a:tc>
                  <a:txBody>
                    <a:bodyPr/>
                    <a:lstStyle/>
                    <a:p>
                      <a:pPr algn="ctr"/>
                      <a:r>
                        <a:rPr lang="en-US" b="0" dirty="0">
                          <a:solidFill>
                            <a:schemeClr val="tx1"/>
                          </a:solidFill>
                        </a:rPr>
                        <a:t>Modified successfully</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6469517"/>
                  </a:ext>
                </a:extLst>
              </a:tr>
              <a:tr h="370840">
                <a:tc>
                  <a:txBody>
                    <a:bodyPr/>
                    <a:lstStyle/>
                    <a:p>
                      <a:pPr algn="ctr"/>
                      <a:r>
                        <a:rPr lang="en-US" b="0" dirty="0">
                          <a:solidFill>
                            <a:schemeClr val="tx1"/>
                          </a:solidFill>
                        </a:rPr>
                        <a:t>Result Table Added Successfully</a:t>
                      </a:r>
                      <a:endParaRPr lang="en-IN"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739317"/>
                  </a:ext>
                </a:extLst>
              </a:tr>
            </a:tbl>
          </a:graphicData>
        </a:graphic>
      </p:graphicFrame>
    </p:spTree>
    <p:extLst>
      <p:ext uri="{BB962C8B-B14F-4D97-AF65-F5344CB8AC3E}">
        <p14:creationId xmlns:p14="http://schemas.microsoft.com/office/powerpoint/2010/main" val="2017494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7 May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070429" y="2844265"/>
            <a:ext cx="700314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1" i="0" u="none" strike="noStrike" cap="none" dirty="0">
                <a:solidFill>
                  <a:schemeClr val="dk1"/>
                </a:solidFill>
                <a:latin typeface="Times New Roman"/>
                <a:ea typeface="Times New Roman"/>
                <a:cs typeface="Times New Roman"/>
                <a:sym typeface="Times New Roman"/>
              </a:rPr>
              <a:t>THANK YOU</a:t>
            </a:r>
          </a:p>
        </p:txBody>
      </p:sp>
    </p:spTree>
    <p:extLst>
      <p:ext uri="{BB962C8B-B14F-4D97-AF65-F5344CB8AC3E}">
        <p14:creationId xmlns:p14="http://schemas.microsoft.com/office/powerpoint/2010/main" val="1566823036"/>
      </p:ext>
    </p:extLst>
  </p:cSld>
  <p:clrMapOvr>
    <a:masterClrMapping/>
  </p:clrMapOvr>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3673</TotalTime>
  <Words>3748</Words>
  <Application>Microsoft Office PowerPoint</Application>
  <PresentationFormat>On-screen Show (4:3)</PresentationFormat>
  <Paragraphs>555</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Arial Rounded</vt:lpstr>
      <vt:lpstr>Calibri</vt:lpstr>
      <vt:lpstr>Comic Sans MS</vt:lpstr>
      <vt:lpstr>Times New Roman</vt:lpstr>
      <vt:lpstr>Presentation1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 sudhan Ravi</dc:creator>
  <cp:lastModifiedBy>ajeez prabu</cp:lastModifiedBy>
  <cp:revision>181</cp:revision>
  <dcterms:created xsi:type="dcterms:W3CDTF">2022-07-10T04:10:14Z</dcterms:created>
  <dcterms:modified xsi:type="dcterms:W3CDTF">2026-05-07T04:47:59Z</dcterms:modified>
</cp:coreProperties>
</file>